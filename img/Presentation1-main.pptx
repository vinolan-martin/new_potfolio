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3" r:id="rId6"/>
    <p:sldId id="264" r:id="rId7"/>
    <p:sldId id="262" r:id="rId8"/>
    <p:sldId id="266" r:id="rId9"/>
    <p:sldId id="267" r:id="rId10"/>
    <p:sldId id="268" r:id="rId11"/>
    <p:sldId id="269" r:id="rId12"/>
    <p:sldId id="270" r:id="rId13"/>
    <p:sldId id="271" r:id="rId14"/>
    <p:sldId id="272"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91" d="100"/>
          <a:sy n="91" d="100"/>
        </p:scale>
        <p:origin x="37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91AC3-E3DE-E778-91D3-C64F3E645C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4911854-239C-34C4-4E02-6EE3AA691D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4A078D-635D-BC94-9480-431C51D63F3F}"/>
              </a:ext>
            </a:extLst>
          </p:cNvPr>
          <p:cNvSpPr>
            <a:spLocks noGrp="1"/>
          </p:cNvSpPr>
          <p:nvPr>
            <p:ph type="dt" sz="half" idx="10"/>
          </p:nvPr>
        </p:nvSpPr>
        <p:spPr/>
        <p:txBody>
          <a:bodyPr/>
          <a:lstStyle/>
          <a:p>
            <a:fld id="{274CA68B-2EFA-4DC9-9E3E-4398B55D2835}" type="datetimeFigureOut">
              <a:rPr lang="en-IN" smtClean="0"/>
              <a:t>16-02-2023</a:t>
            </a:fld>
            <a:endParaRPr lang="en-IN"/>
          </a:p>
        </p:txBody>
      </p:sp>
      <p:sp>
        <p:nvSpPr>
          <p:cNvPr id="5" name="Footer Placeholder 4">
            <a:extLst>
              <a:ext uri="{FF2B5EF4-FFF2-40B4-BE49-F238E27FC236}">
                <a16:creationId xmlns:a16="http://schemas.microsoft.com/office/drawing/2014/main" id="{C63873D9-08C5-7BBE-9415-72EABE84B1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A11396-0F5F-5BCC-1731-A6BAC880B96C}"/>
              </a:ext>
            </a:extLst>
          </p:cNvPr>
          <p:cNvSpPr>
            <a:spLocks noGrp="1"/>
          </p:cNvSpPr>
          <p:nvPr>
            <p:ph type="sldNum" sz="quarter" idx="12"/>
          </p:nvPr>
        </p:nvSpPr>
        <p:spPr/>
        <p:txBody>
          <a:bodyPr/>
          <a:lstStyle/>
          <a:p>
            <a:fld id="{8C550935-3E65-4BCF-BE90-999E0D1D626F}" type="slidenum">
              <a:rPr lang="en-IN" smtClean="0"/>
              <a:t>‹#›</a:t>
            </a:fld>
            <a:endParaRPr lang="en-IN"/>
          </a:p>
        </p:txBody>
      </p:sp>
    </p:spTree>
    <p:extLst>
      <p:ext uri="{BB962C8B-B14F-4D97-AF65-F5344CB8AC3E}">
        <p14:creationId xmlns:p14="http://schemas.microsoft.com/office/powerpoint/2010/main" val="3472827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922BB-9963-E9E8-A2E7-3A56865518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45C182C-BFCF-1E99-09FC-1B9021DF7A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3DDFE9-1551-6BD5-B1D4-8673F9FC78A7}"/>
              </a:ext>
            </a:extLst>
          </p:cNvPr>
          <p:cNvSpPr>
            <a:spLocks noGrp="1"/>
          </p:cNvSpPr>
          <p:nvPr>
            <p:ph type="dt" sz="half" idx="10"/>
          </p:nvPr>
        </p:nvSpPr>
        <p:spPr/>
        <p:txBody>
          <a:bodyPr/>
          <a:lstStyle/>
          <a:p>
            <a:fld id="{274CA68B-2EFA-4DC9-9E3E-4398B55D2835}" type="datetimeFigureOut">
              <a:rPr lang="en-IN" smtClean="0"/>
              <a:t>16-02-2023</a:t>
            </a:fld>
            <a:endParaRPr lang="en-IN"/>
          </a:p>
        </p:txBody>
      </p:sp>
      <p:sp>
        <p:nvSpPr>
          <p:cNvPr id="5" name="Footer Placeholder 4">
            <a:extLst>
              <a:ext uri="{FF2B5EF4-FFF2-40B4-BE49-F238E27FC236}">
                <a16:creationId xmlns:a16="http://schemas.microsoft.com/office/drawing/2014/main" id="{86971D6A-8301-AB5D-BDAD-FC5C4D9602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55404E-B49F-85DE-548A-932E2C7AC5B9}"/>
              </a:ext>
            </a:extLst>
          </p:cNvPr>
          <p:cNvSpPr>
            <a:spLocks noGrp="1"/>
          </p:cNvSpPr>
          <p:nvPr>
            <p:ph type="sldNum" sz="quarter" idx="12"/>
          </p:nvPr>
        </p:nvSpPr>
        <p:spPr/>
        <p:txBody>
          <a:bodyPr/>
          <a:lstStyle/>
          <a:p>
            <a:fld id="{8C550935-3E65-4BCF-BE90-999E0D1D626F}" type="slidenum">
              <a:rPr lang="en-IN" smtClean="0"/>
              <a:t>‹#›</a:t>
            </a:fld>
            <a:endParaRPr lang="en-IN"/>
          </a:p>
        </p:txBody>
      </p:sp>
    </p:spTree>
    <p:extLst>
      <p:ext uri="{BB962C8B-B14F-4D97-AF65-F5344CB8AC3E}">
        <p14:creationId xmlns:p14="http://schemas.microsoft.com/office/powerpoint/2010/main" val="871418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7CB1B-D64E-0D53-E225-1670A84338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1AC534-11CC-B4D9-42B6-A7DC3D09AB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D5F26B-FEC8-2132-42ED-F9D53EA866DC}"/>
              </a:ext>
            </a:extLst>
          </p:cNvPr>
          <p:cNvSpPr>
            <a:spLocks noGrp="1"/>
          </p:cNvSpPr>
          <p:nvPr>
            <p:ph type="dt" sz="half" idx="10"/>
          </p:nvPr>
        </p:nvSpPr>
        <p:spPr/>
        <p:txBody>
          <a:bodyPr/>
          <a:lstStyle/>
          <a:p>
            <a:fld id="{274CA68B-2EFA-4DC9-9E3E-4398B55D2835}" type="datetimeFigureOut">
              <a:rPr lang="en-IN" smtClean="0"/>
              <a:t>16-02-2023</a:t>
            </a:fld>
            <a:endParaRPr lang="en-IN"/>
          </a:p>
        </p:txBody>
      </p:sp>
      <p:sp>
        <p:nvSpPr>
          <p:cNvPr id="5" name="Footer Placeholder 4">
            <a:extLst>
              <a:ext uri="{FF2B5EF4-FFF2-40B4-BE49-F238E27FC236}">
                <a16:creationId xmlns:a16="http://schemas.microsoft.com/office/drawing/2014/main" id="{44E9A72F-10CC-44AB-E450-D4360776C5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EE4FA0-1946-0E71-2338-3BB725FE75CB}"/>
              </a:ext>
            </a:extLst>
          </p:cNvPr>
          <p:cNvSpPr>
            <a:spLocks noGrp="1"/>
          </p:cNvSpPr>
          <p:nvPr>
            <p:ph type="sldNum" sz="quarter" idx="12"/>
          </p:nvPr>
        </p:nvSpPr>
        <p:spPr/>
        <p:txBody>
          <a:bodyPr/>
          <a:lstStyle/>
          <a:p>
            <a:fld id="{8C550935-3E65-4BCF-BE90-999E0D1D626F}" type="slidenum">
              <a:rPr lang="en-IN" smtClean="0"/>
              <a:t>‹#›</a:t>
            </a:fld>
            <a:endParaRPr lang="en-IN"/>
          </a:p>
        </p:txBody>
      </p:sp>
    </p:spTree>
    <p:extLst>
      <p:ext uri="{BB962C8B-B14F-4D97-AF65-F5344CB8AC3E}">
        <p14:creationId xmlns:p14="http://schemas.microsoft.com/office/powerpoint/2010/main" val="1763414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106D6-D3B1-899B-B156-493A65D9B0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4E2DD4-9582-BE07-8119-2B9019B8D6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D14D378-75D2-19C5-7E99-89EAC963CB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7E970FD-2834-0F85-6F93-CFB6FDFAC429}"/>
              </a:ext>
            </a:extLst>
          </p:cNvPr>
          <p:cNvSpPr>
            <a:spLocks noGrp="1"/>
          </p:cNvSpPr>
          <p:nvPr>
            <p:ph type="dt" sz="half" idx="10"/>
          </p:nvPr>
        </p:nvSpPr>
        <p:spPr/>
        <p:txBody>
          <a:bodyPr/>
          <a:lstStyle/>
          <a:p>
            <a:fld id="{274CA68B-2EFA-4DC9-9E3E-4398B55D2835}" type="datetimeFigureOut">
              <a:rPr lang="en-IN" smtClean="0"/>
              <a:t>16-02-2023</a:t>
            </a:fld>
            <a:endParaRPr lang="en-IN"/>
          </a:p>
        </p:txBody>
      </p:sp>
      <p:sp>
        <p:nvSpPr>
          <p:cNvPr id="6" name="Footer Placeholder 5">
            <a:extLst>
              <a:ext uri="{FF2B5EF4-FFF2-40B4-BE49-F238E27FC236}">
                <a16:creationId xmlns:a16="http://schemas.microsoft.com/office/drawing/2014/main" id="{64E9E8C6-C2C3-9C1C-3501-5F4A02F6CE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96098B-ABDF-34CC-5441-B526AD897536}"/>
              </a:ext>
            </a:extLst>
          </p:cNvPr>
          <p:cNvSpPr>
            <a:spLocks noGrp="1"/>
          </p:cNvSpPr>
          <p:nvPr>
            <p:ph type="sldNum" sz="quarter" idx="12"/>
          </p:nvPr>
        </p:nvSpPr>
        <p:spPr/>
        <p:txBody>
          <a:bodyPr/>
          <a:lstStyle/>
          <a:p>
            <a:fld id="{8C550935-3E65-4BCF-BE90-999E0D1D626F}" type="slidenum">
              <a:rPr lang="en-IN" smtClean="0"/>
              <a:t>‹#›</a:t>
            </a:fld>
            <a:endParaRPr lang="en-IN"/>
          </a:p>
        </p:txBody>
      </p:sp>
    </p:spTree>
    <p:extLst>
      <p:ext uri="{BB962C8B-B14F-4D97-AF65-F5344CB8AC3E}">
        <p14:creationId xmlns:p14="http://schemas.microsoft.com/office/powerpoint/2010/main" val="660769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DA28A-4206-371D-BDEA-52E7C8D24B5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F863EE-785F-D500-5172-E125C2E549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B5A026-2056-ACB2-A233-8EAD747CAF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FC989C8-A716-3678-9C34-FC2A02016E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B9BC13-80F7-334B-8F08-A4ABE97F76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9B976A1-9A0D-D1F9-41E6-3494A8D1BEE8}"/>
              </a:ext>
            </a:extLst>
          </p:cNvPr>
          <p:cNvSpPr>
            <a:spLocks noGrp="1"/>
          </p:cNvSpPr>
          <p:nvPr>
            <p:ph type="dt" sz="half" idx="10"/>
          </p:nvPr>
        </p:nvSpPr>
        <p:spPr/>
        <p:txBody>
          <a:bodyPr/>
          <a:lstStyle/>
          <a:p>
            <a:fld id="{274CA68B-2EFA-4DC9-9E3E-4398B55D2835}" type="datetimeFigureOut">
              <a:rPr lang="en-IN" smtClean="0"/>
              <a:t>16-02-2023</a:t>
            </a:fld>
            <a:endParaRPr lang="en-IN"/>
          </a:p>
        </p:txBody>
      </p:sp>
      <p:sp>
        <p:nvSpPr>
          <p:cNvPr id="8" name="Footer Placeholder 7">
            <a:extLst>
              <a:ext uri="{FF2B5EF4-FFF2-40B4-BE49-F238E27FC236}">
                <a16:creationId xmlns:a16="http://schemas.microsoft.com/office/drawing/2014/main" id="{DB45F22F-CCB0-45C4-50E4-D905A06EED4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BBA1B2D-B7B8-4A90-3D9A-E196CB8B7001}"/>
              </a:ext>
            </a:extLst>
          </p:cNvPr>
          <p:cNvSpPr>
            <a:spLocks noGrp="1"/>
          </p:cNvSpPr>
          <p:nvPr>
            <p:ph type="sldNum" sz="quarter" idx="12"/>
          </p:nvPr>
        </p:nvSpPr>
        <p:spPr/>
        <p:txBody>
          <a:bodyPr/>
          <a:lstStyle/>
          <a:p>
            <a:fld id="{8C550935-3E65-4BCF-BE90-999E0D1D626F}" type="slidenum">
              <a:rPr lang="en-IN" smtClean="0"/>
              <a:t>‹#›</a:t>
            </a:fld>
            <a:endParaRPr lang="en-IN"/>
          </a:p>
        </p:txBody>
      </p:sp>
    </p:spTree>
    <p:extLst>
      <p:ext uri="{BB962C8B-B14F-4D97-AF65-F5344CB8AC3E}">
        <p14:creationId xmlns:p14="http://schemas.microsoft.com/office/powerpoint/2010/main" val="1633064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2C10C-5DD3-FEB2-B390-3E8B7CB9E57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4805955-5AE3-C48B-FD83-62672BC9BBCC}"/>
              </a:ext>
            </a:extLst>
          </p:cNvPr>
          <p:cNvSpPr>
            <a:spLocks noGrp="1"/>
          </p:cNvSpPr>
          <p:nvPr>
            <p:ph type="dt" sz="half" idx="10"/>
          </p:nvPr>
        </p:nvSpPr>
        <p:spPr/>
        <p:txBody>
          <a:bodyPr/>
          <a:lstStyle/>
          <a:p>
            <a:fld id="{274CA68B-2EFA-4DC9-9E3E-4398B55D2835}" type="datetimeFigureOut">
              <a:rPr lang="en-IN" smtClean="0"/>
              <a:t>16-02-2023</a:t>
            </a:fld>
            <a:endParaRPr lang="en-IN"/>
          </a:p>
        </p:txBody>
      </p:sp>
      <p:sp>
        <p:nvSpPr>
          <p:cNvPr id="4" name="Footer Placeholder 3">
            <a:extLst>
              <a:ext uri="{FF2B5EF4-FFF2-40B4-BE49-F238E27FC236}">
                <a16:creationId xmlns:a16="http://schemas.microsoft.com/office/drawing/2014/main" id="{5CBAC76E-A8ED-B2F1-3C96-D0A27DB37DF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E85CB12-63A5-5033-6204-2D7C3195456B}"/>
              </a:ext>
            </a:extLst>
          </p:cNvPr>
          <p:cNvSpPr>
            <a:spLocks noGrp="1"/>
          </p:cNvSpPr>
          <p:nvPr>
            <p:ph type="sldNum" sz="quarter" idx="12"/>
          </p:nvPr>
        </p:nvSpPr>
        <p:spPr/>
        <p:txBody>
          <a:bodyPr/>
          <a:lstStyle/>
          <a:p>
            <a:fld id="{8C550935-3E65-4BCF-BE90-999E0D1D626F}" type="slidenum">
              <a:rPr lang="en-IN" smtClean="0"/>
              <a:t>‹#›</a:t>
            </a:fld>
            <a:endParaRPr lang="en-IN"/>
          </a:p>
        </p:txBody>
      </p:sp>
    </p:spTree>
    <p:extLst>
      <p:ext uri="{BB962C8B-B14F-4D97-AF65-F5344CB8AC3E}">
        <p14:creationId xmlns:p14="http://schemas.microsoft.com/office/powerpoint/2010/main" val="411625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878A3B-2851-A680-8551-AA3196C6F52F}"/>
              </a:ext>
            </a:extLst>
          </p:cNvPr>
          <p:cNvSpPr>
            <a:spLocks noGrp="1"/>
          </p:cNvSpPr>
          <p:nvPr>
            <p:ph type="dt" sz="half" idx="10"/>
          </p:nvPr>
        </p:nvSpPr>
        <p:spPr/>
        <p:txBody>
          <a:bodyPr/>
          <a:lstStyle/>
          <a:p>
            <a:fld id="{274CA68B-2EFA-4DC9-9E3E-4398B55D2835}" type="datetimeFigureOut">
              <a:rPr lang="en-IN" smtClean="0"/>
              <a:t>16-02-2023</a:t>
            </a:fld>
            <a:endParaRPr lang="en-IN"/>
          </a:p>
        </p:txBody>
      </p:sp>
      <p:sp>
        <p:nvSpPr>
          <p:cNvPr id="3" name="Footer Placeholder 2">
            <a:extLst>
              <a:ext uri="{FF2B5EF4-FFF2-40B4-BE49-F238E27FC236}">
                <a16:creationId xmlns:a16="http://schemas.microsoft.com/office/drawing/2014/main" id="{D124C34A-CC4C-69ED-8455-2FAF7FE585B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8942D5-D9CC-7B10-23A4-0D106265B374}"/>
              </a:ext>
            </a:extLst>
          </p:cNvPr>
          <p:cNvSpPr>
            <a:spLocks noGrp="1"/>
          </p:cNvSpPr>
          <p:nvPr>
            <p:ph type="sldNum" sz="quarter" idx="12"/>
          </p:nvPr>
        </p:nvSpPr>
        <p:spPr/>
        <p:txBody>
          <a:bodyPr/>
          <a:lstStyle/>
          <a:p>
            <a:fld id="{8C550935-3E65-4BCF-BE90-999E0D1D626F}" type="slidenum">
              <a:rPr lang="en-IN" smtClean="0"/>
              <a:t>‹#›</a:t>
            </a:fld>
            <a:endParaRPr lang="en-IN"/>
          </a:p>
        </p:txBody>
      </p:sp>
    </p:spTree>
    <p:extLst>
      <p:ext uri="{BB962C8B-B14F-4D97-AF65-F5344CB8AC3E}">
        <p14:creationId xmlns:p14="http://schemas.microsoft.com/office/powerpoint/2010/main" val="910997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359B1-AC09-6041-E155-9FE7EC0C25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89A5C06-03B2-AF43-9835-9EC72F74F8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F90B09-103F-C946-E9EC-AE7476226F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F1BC7E-9376-26FA-67D5-7BDEC4FB1722}"/>
              </a:ext>
            </a:extLst>
          </p:cNvPr>
          <p:cNvSpPr>
            <a:spLocks noGrp="1"/>
          </p:cNvSpPr>
          <p:nvPr>
            <p:ph type="dt" sz="half" idx="10"/>
          </p:nvPr>
        </p:nvSpPr>
        <p:spPr/>
        <p:txBody>
          <a:bodyPr/>
          <a:lstStyle/>
          <a:p>
            <a:fld id="{274CA68B-2EFA-4DC9-9E3E-4398B55D2835}" type="datetimeFigureOut">
              <a:rPr lang="en-IN" smtClean="0"/>
              <a:t>16-02-2023</a:t>
            </a:fld>
            <a:endParaRPr lang="en-IN"/>
          </a:p>
        </p:txBody>
      </p:sp>
      <p:sp>
        <p:nvSpPr>
          <p:cNvPr id="6" name="Footer Placeholder 5">
            <a:extLst>
              <a:ext uri="{FF2B5EF4-FFF2-40B4-BE49-F238E27FC236}">
                <a16:creationId xmlns:a16="http://schemas.microsoft.com/office/drawing/2014/main" id="{9B52B0B6-02FC-FB0D-3077-A6F8D0BBA9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A79640-3689-F228-F180-B3CE5AEB3C16}"/>
              </a:ext>
            </a:extLst>
          </p:cNvPr>
          <p:cNvSpPr>
            <a:spLocks noGrp="1"/>
          </p:cNvSpPr>
          <p:nvPr>
            <p:ph type="sldNum" sz="quarter" idx="12"/>
          </p:nvPr>
        </p:nvSpPr>
        <p:spPr/>
        <p:txBody>
          <a:bodyPr/>
          <a:lstStyle/>
          <a:p>
            <a:fld id="{8C550935-3E65-4BCF-BE90-999E0D1D626F}" type="slidenum">
              <a:rPr lang="en-IN" smtClean="0"/>
              <a:t>‹#›</a:t>
            </a:fld>
            <a:endParaRPr lang="en-IN"/>
          </a:p>
        </p:txBody>
      </p:sp>
    </p:spTree>
    <p:extLst>
      <p:ext uri="{BB962C8B-B14F-4D97-AF65-F5344CB8AC3E}">
        <p14:creationId xmlns:p14="http://schemas.microsoft.com/office/powerpoint/2010/main" val="1971513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B01AE-43C0-A778-E651-5690284AFB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CB36DCA-AFF9-6516-0A2C-4F5CE21D20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E2E9701-494B-6CFC-91B6-64236C340C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E2FB76-A206-E1BB-6DF6-68C99E22FF0C}"/>
              </a:ext>
            </a:extLst>
          </p:cNvPr>
          <p:cNvSpPr>
            <a:spLocks noGrp="1"/>
          </p:cNvSpPr>
          <p:nvPr>
            <p:ph type="dt" sz="half" idx="10"/>
          </p:nvPr>
        </p:nvSpPr>
        <p:spPr/>
        <p:txBody>
          <a:bodyPr/>
          <a:lstStyle/>
          <a:p>
            <a:fld id="{274CA68B-2EFA-4DC9-9E3E-4398B55D2835}" type="datetimeFigureOut">
              <a:rPr lang="en-IN" smtClean="0"/>
              <a:t>16-02-2023</a:t>
            </a:fld>
            <a:endParaRPr lang="en-IN"/>
          </a:p>
        </p:txBody>
      </p:sp>
      <p:sp>
        <p:nvSpPr>
          <p:cNvPr id="6" name="Footer Placeholder 5">
            <a:extLst>
              <a:ext uri="{FF2B5EF4-FFF2-40B4-BE49-F238E27FC236}">
                <a16:creationId xmlns:a16="http://schemas.microsoft.com/office/drawing/2014/main" id="{F9616233-45F9-AD77-B2A7-1512F97C81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FB62DC-0FD8-FA34-9FA3-A361E19FF2E4}"/>
              </a:ext>
            </a:extLst>
          </p:cNvPr>
          <p:cNvSpPr>
            <a:spLocks noGrp="1"/>
          </p:cNvSpPr>
          <p:nvPr>
            <p:ph type="sldNum" sz="quarter" idx="12"/>
          </p:nvPr>
        </p:nvSpPr>
        <p:spPr/>
        <p:txBody>
          <a:bodyPr/>
          <a:lstStyle/>
          <a:p>
            <a:fld id="{8C550935-3E65-4BCF-BE90-999E0D1D626F}" type="slidenum">
              <a:rPr lang="en-IN" smtClean="0"/>
              <a:t>‹#›</a:t>
            </a:fld>
            <a:endParaRPr lang="en-IN"/>
          </a:p>
        </p:txBody>
      </p:sp>
    </p:spTree>
    <p:extLst>
      <p:ext uri="{BB962C8B-B14F-4D97-AF65-F5344CB8AC3E}">
        <p14:creationId xmlns:p14="http://schemas.microsoft.com/office/powerpoint/2010/main" val="2630316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20D00-A642-949A-3205-9452F0EE10B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8B0F95-41DD-95B0-42D3-AAD806A0E9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129897-E79F-50A5-0C73-91E3ABF59ADD}"/>
              </a:ext>
            </a:extLst>
          </p:cNvPr>
          <p:cNvSpPr>
            <a:spLocks noGrp="1"/>
          </p:cNvSpPr>
          <p:nvPr>
            <p:ph type="dt" sz="half" idx="10"/>
          </p:nvPr>
        </p:nvSpPr>
        <p:spPr/>
        <p:txBody>
          <a:bodyPr/>
          <a:lstStyle/>
          <a:p>
            <a:fld id="{274CA68B-2EFA-4DC9-9E3E-4398B55D2835}" type="datetimeFigureOut">
              <a:rPr lang="en-IN" smtClean="0"/>
              <a:t>16-02-2023</a:t>
            </a:fld>
            <a:endParaRPr lang="en-IN"/>
          </a:p>
        </p:txBody>
      </p:sp>
      <p:sp>
        <p:nvSpPr>
          <p:cNvPr id="5" name="Footer Placeholder 4">
            <a:extLst>
              <a:ext uri="{FF2B5EF4-FFF2-40B4-BE49-F238E27FC236}">
                <a16:creationId xmlns:a16="http://schemas.microsoft.com/office/drawing/2014/main" id="{ED6A1C7A-9B9D-DE64-39CC-519F106D02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ADCACD-340A-BA48-CA69-954ABA20539A}"/>
              </a:ext>
            </a:extLst>
          </p:cNvPr>
          <p:cNvSpPr>
            <a:spLocks noGrp="1"/>
          </p:cNvSpPr>
          <p:nvPr>
            <p:ph type="sldNum" sz="quarter" idx="12"/>
          </p:nvPr>
        </p:nvSpPr>
        <p:spPr/>
        <p:txBody>
          <a:bodyPr/>
          <a:lstStyle/>
          <a:p>
            <a:fld id="{8C550935-3E65-4BCF-BE90-999E0D1D626F}" type="slidenum">
              <a:rPr lang="en-IN" smtClean="0"/>
              <a:t>‹#›</a:t>
            </a:fld>
            <a:endParaRPr lang="en-IN"/>
          </a:p>
        </p:txBody>
      </p:sp>
    </p:spTree>
    <p:extLst>
      <p:ext uri="{BB962C8B-B14F-4D97-AF65-F5344CB8AC3E}">
        <p14:creationId xmlns:p14="http://schemas.microsoft.com/office/powerpoint/2010/main" val="3012808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648D1A-80DB-0F87-5185-71FC4F223BE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B6150B-C310-9D2C-2BD9-E024250E50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490297-7856-13E3-0369-EC79BEE4863E}"/>
              </a:ext>
            </a:extLst>
          </p:cNvPr>
          <p:cNvSpPr>
            <a:spLocks noGrp="1"/>
          </p:cNvSpPr>
          <p:nvPr>
            <p:ph type="dt" sz="half" idx="10"/>
          </p:nvPr>
        </p:nvSpPr>
        <p:spPr/>
        <p:txBody>
          <a:bodyPr/>
          <a:lstStyle/>
          <a:p>
            <a:fld id="{274CA68B-2EFA-4DC9-9E3E-4398B55D2835}" type="datetimeFigureOut">
              <a:rPr lang="en-IN" smtClean="0"/>
              <a:t>16-02-2023</a:t>
            </a:fld>
            <a:endParaRPr lang="en-IN"/>
          </a:p>
        </p:txBody>
      </p:sp>
      <p:sp>
        <p:nvSpPr>
          <p:cNvPr id="5" name="Footer Placeholder 4">
            <a:extLst>
              <a:ext uri="{FF2B5EF4-FFF2-40B4-BE49-F238E27FC236}">
                <a16:creationId xmlns:a16="http://schemas.microsoft.com/office/drawing/2014/main" id="{31BE7DFE-5A8F-1A7C-1D15-9D9C9E4620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A81F9B-DDB0-6C2F-E001-0D700734E4EC}"/>
              </a:ext>
            </a:extLst>
          </p:cNvPr>
          <p:cNvSpPr>
            <a:spLocks noGrp="1"/>
          </p:cNvSpPr>
          <p:nvPr>
            <p:ph type="sldNum" sz="quarter" idx="12"/>
          </p:nvPr>
        </p:nvSpPr>
        <p:spPr/>
        <p:txBody>
          <a:bodyPr/>
          <a:lstStyle/>
          <a:p>
            <a:fld id="{8C550935-3E65-4BCF-BE90-999E0D1D626F}" type="slidenum">
              <a:rPr lang="en-IN" smtClean="0"/>
              <a:t>‹#›</a:t>
            </a:fld>
            <a:endParaRPr lang="en-IN"/>
          </a:p>
        </p:txBody>
      </p:sp>
    </p:spTree>
    <p:extLst>
      <p:ext uri="{BB962C8B-B14F-4D97-AF65-F5344CB8AC3E}">
        <p14:creationId xmlns:p14="http://schemas.microsoft.com/office/powerpoint/2010/main" val="2586954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CA73F4-A179-2FB8-28D9-90CEDDDB27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09AF86-8DE8-CADE-C277-E96F75F382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5FF961-3F3A-B733-CB3B-0908888DEF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4CA68B-2EFA-4DC9-9E3E-4398B55D2835}" type="datetimeFigureOut">
              <a:rPr lang="en-IN" smtClean="0"/>
              <a:t>16-02-2023</a:t>
            </a:fld>
            <a:endParaRPr lang="en-IN"/>
          </a:p>
        </p:txBody>
      </p:sp>
      <p:sp>
        <p:nvSpPr>
          <p:cNvPr id="5" name="Footer Placeholder 4">
            <a:extLst>
              <a:ext uri="{FF2B5EF4-FFF2-40B4-BE49-F238E27FC236}">
                <a16:creationId xmlns:a16="http://schemas.microsoft.com/office/drawing/2014/main" id="{77FD3CC4-7715-8A57-BBD4-D22D11FB14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292B779-2E77-35B4-8991-653F473133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550935-3E65-4BCF-BE90-999E0D1D626F}" type="slidenum">
              <a:rPr lang="en-IN" smtClean="0"/>
              <a:t>‹#›</a:t>
            </a:fld>
            <a:endParaRPr lang="en-IN"/>
          </a:p>
        </p:txBody>
      </p:sp>
    </p:spTree>
    <p:extLst>
      <p:ext uri="{BB962C8B-B14F-4D97-AF65-F5344CB8AC3E}">
        <p14:creationId xmlns:p14="http://schemas.microsoft.com/office/powerpoint/2010/main" val="3986387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webp"/><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webp"/><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EC3EB6-D46C-FB23-06B5-D40BAAEE8B9A}"/>
              </a:ext>
            </a:extLst>
          </p:cNvPr>
          <p:cNvSpPr txBox="1"/>
          <p:nvPr/>
        </p:nvSpPr>
        <p:spPr>
          <a:xfrm flipH="1">
            <a:off x="1395663" y="938464"/>
            <a:ext cx="11369840" cy="2062103"/>
          </a:xfrm>
          <a:prstGeom prst="rect">
            <a:avLst/>
          </a:prstGeom>
          <a:noFill/>
        </p:spPr>
        <p:txBody>
          <a:bodyPr wrap="square" rtlCol="0">
            <a:spAutoFit/>
          </a:bodyPr>
          <a:lstStyle/>
          <a:p>
            <a:r>
              <a:rPr lang="en-US" sz="4400" b="1" dirty="0">
                <a:effectLst/>
                <a:latin typeface="Consolas" panose="020B0609020204030204" pitchFamily="49" charset="0"/>
              </a:rPr>
              <a:t>ONLINE SPORTS TURF PLAYGROUND  					BOOKING SYSTEM</a:t>
            </a:r>
          </a:p>
          <a:p>
            <a:endParaRPr lang="en-IN" sz="4000" b="1" dirty="0"/>
          </a:p>
        </p:txBody>
      </p:sp>
      <p:sp>
        <p:nvSpPr>
          <p:cNvPr id="3" name="TextBox 2">
            <a:extLst>
              <a:ext uri="{FF2B5EF4-FFF2-40B4-BE49-F238E27FC236}">
                <a16:creationId xmlns:a16="http://schemas.microsoft.com/office/drawing/2014/main" id="{963DECE4-26C0-0457-7980-55C1AEEFD2E8}"/>
              </a:ext>
            </a:extLst>
          </p:cNvPr>
          <p:cNvSpPr txBox="1"/>
          <p:nvPr/>
        </p:nvSpPr>
        <p:spPr>
          <a:xfrm>
            <a:off x="1395663" y="4784756"/>
            <a:ext cx="2671011" cy="1477328"/>
          </a:xfrm>
          <a:prstGeom prst="rect">
            <a:avLst/>
          </a:prstGeom>
          <a:noFill/>
        </p:spPr>
        <p:txBody>
          <a:bodyPr wrap="square" rtlCol="0">
            <a:spAutoFit/>
          </a:bodyPr>
          <a:lstStyle/>
          <a:p>
            <a:r>
              <a:rPr lang="en-US" b="1" dirty="0"/>
              <a:t>Presented by :</a:t>
            </a:r>
          </a:p>
          <a:p>
            <a:endParaRPr lang="en-US" dirty="0"/>
          </a:p>
          <a:p>
            <a:r>
              <a:rPr lang="en-US" dirty="0"/>
              <a:t>Prasanth K</a:t>
            </a:r>
          </a:p>
          <a:p>
            <a:r>
              <a:rPr lang="en-US" dirty="0"/>
              <a:t>Poornima Babu</a:t>
            </a:r>
          </a:p>
          <a:p>
            <a:r>
              <a:rPr lang="en-US" dirty="0"/>
              <a:t>Raja M</a:t>
            </a:r>
            <a:endParaRPr lang="en-IN" dirty="0"/>
          </a:p>
        </p:txBody>
      </p:sp>
      <p:sp>
        <p:nvSpPr>
          <p:cNvPr id="4" name="TextBox 3">
            <a:extLst>
              <a:ext uri="{FF2B5EF4-FFF2-40B4-BE49-F238E27FC236}">
                <a16:creationId xmlns:a16="http://schemas.microsoft.com/office/drawing/2014/main" id="{082FEA2A-E16D-9682-40BD-F25C1DB59C09}"/>
              </a:ext>
            </a:extLst>
          </p:cNvPr>
          <p:cNvSpPr txBox="1"/>
          <p:nvPr/>
        </p:nvSpPr>
        <p:spPr>
          <a:xfrm>
            <a:off x="7340252" y="4722312"/>
            <a:ext cx="3800188" cy="1477328"/>
          </a:xfrm>
          <a:prstGeom prst="rect">
            <a:avLst/>
          </a:prstGeom>
          <a:noFill/>
        </p:spPr>
        <p:txBody>
          <a:bodyPr wrap="square" rtlCol="0">
            <a:spAutoFit/>
          </a:bodyPr>
          <a:lstStyle/>
          <a:p>
            <a:r>
              <a:rPr lang="en-US" b="1" dirty="0"/>
              <a:t>Guide :</a:t>
            </a:r>
          </a:p>
          <a:p>
            <a:r>
              <a:rPr lang="en-US" b="1" dirty="0"/>
              <a:t> Mrs. </a:t>
            </a:r>
            <a:r>
              <a:rPr lang="en-US" b="1" dirty="0" err="1"/>
              <a:t>Suriya</a:t>
            </a:r>
            <a:r>
              <a:rPr lang="en-US" b="1" dirty="0"/>
              <a:t> </a:t>
            </a:r>
          </a:p>
          <a:p>
            <a:r>
              <a:rPr lang="en-US" b="1" dirty="0"/>
              <a:t> (Professor)</a:t>
            </a:r>
          </a:p>
          <a:p>
            <a:r>
              <a:rPr lang="en-US" b="1" dirty="0"/>
              <a:t>Department of Computer Application</a:t>
            </a:r>
          </a:p>
          <a:p>
            <a:r>
              <a:rPr lang="en-US" b="1" dirty="0"/>
              <a:t>SRMIST , </a:t>
            </a:r>
            <a:r>
              <a:rPr lang="en-US" b="1" dirty="0" err="1"/>
              <a:t>Ramapuram</a:t>
            </a:r>
            <a:endParaRPr lang="en-IN" b="1" dirty="0"/>
          </a:p>
        </p:txBody>
      </p:sp>
    </p:spTree>
    <p:extLst>
      <p:ext uri="{BB962C8B-B14F-4D97-AF65-F5344CB8AC3E}">
        <p14:creationId xmlns:p14="http://schemas.microsoft.com/office/powerpoint/2010/main" val="519079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A9A82A-FDB6-4322-45A6-CA57F58C532B}"/>
              </a:ext>
            </a:extLst>
          </p:cNvPr>
          <p:cNvSpPr txBox="1"/>
          <p:nvPr/>
        </p:nvSpPr>
        <p:spPr>
          <a:xfrm rot="10800000" flipH="1" flipV="1">
            <a:off x="1181792" y="760375"/>
            <a:ext cx="7995461" cy="584775"/>
          </a:xfrm>
          <a:prstGeom prst="rect">
            <a:avLst/>
          </a:prstGeom>
          <a:noFill/>
        </p:spPr>
        <p:txBody>
          <a:bodyPr wrap="square" rtlCol="0">
            <a:spAutoFit/>
          </a:bodyPr>
          <a:lstStyle/>
          <a:p>
            <a:r>
              <a:rPr lang="en-IN" sz="3200" b="1" dirty="0"/>
              <a:t>CONTENT :</a:t>
            </a:r>
          </a:p>
        </p:txBody>
      </p:sp>
      <p:sp>
        <p:nvSpPr>
          <p:cNvPr id="3" name="TextBox 2">
            <a:extLst>
              <a:ext uri="{FF2B5EF4-FFF2-40B4-BE49-F238E27FC236}">
                <a16:creationId xmlns:a16="http://schemas.microsoft.com/office/drawing/2014/main" id="{FFDB601A-EE3A-FE2A-5C6F-CEEABA25776F}"/>
              </a:ext>
            </a:extLst>
          </p:cNvPr>
          <p:cNvSpPr txBox="1"/>
          <p:nvPr/>
        </p:nvSpPr>
        <p:spPr>
          <a:xfrm flipH="1">
            <a:off x="4510543" y="1808336"/>
            <a:ext cx="5800899" cy="3785652"/>
          </a:xfrm>
          <a:prstGeom prst="rect">
            <a:avLst/>
          </a:prstGeom>
          <a:noFill/>
        </p:spPr>
        <p:txBody>
          <a:bodyPr wrap="square" rtlCol="0">
            <a:spAutoFit/>
          </a:bodyPr>
          <a:lstStyle/>
          <a:p>
            <a:r>
              <a:rPr lang="en-IN" sz="2400" b="1" dirty="0"/>
              <a:t>• ABSTRACT </a:t>
            </a:r>
          </a:p>
          <a:p>
            <a:r>
              <a:rPr lang="en-IN" sz="2400" b="1" dirty="0"/>
              <a:t>• SOFTWARE MODULES </a:t>
            </a:r>
          </a:p>
          <a:p>
            <a:r>
              <a:rPr lang="en-IN" sz="2400" b="1" dirty="0"/>
              <a:t>• DATA FLOW DIAGRAM </a:t>
            </a:r>
          </a:p>
          <a:p>
            <a:r>
              <a:rPr lang="en-IN" sz="2400" b="1" dirty="0"/>
              <a:t>• ALGRORITHM</a:t>
            </a:r>
          </a:p>
          <a:p>
            <a:r>
              <a:rPr lang="en-IN" sz="2400" b="1" dirty="0"/>
              <a:t>• DATABASE DESIGN </a:t>
            </a:r>
          </a:p>
          <a:p>
            <a:r>
              <a:rPr lang="en-IN" sz="2400" b="1" dirty="0"/>
              <a:t>• CODING </a:t>
            </a:r>
          </a:p>
          <a:p>
            <a:r>
              <a:rPr lang="en-IN" sz="2400" b="1" dirty="0"/>
              <a:t>• SCREENSHOT </a:t>
            </a:r>
          </a:p>
          <a:p>
            <a:r>
              <a:rPr lang="en-IN" sz="2400" b="1" dirty="0"/>
              <a:t>• </a:t>
            </a:r>
            <a:r>
              <a:rPr lang="en-IN" sz="2400" b="1" i="0" dirty="0">
                <a:effectLst/>
                <a:latin typeface="-apple-system"/>
              </a:rPr>
              <a:t>USE CASE DIAGRAM</a:t>
            </a:r>
            <a:endParaRPr lang="en-IN" sz="2400" b="1" dirty="0"/>
          </a:p>
          <a:p>
            <a:r>
              <a:rPr lang="en-IN" sz="2400" b="1" dirty="0"/>
              <a:t>• </a:t>
            </a:r>
            <a:r>
              <a:rPr lang="en-IN" sz="2400" b="1" i="0" cap="all" dirty="0">
                <a:solidFill>
                  <a:srgbClr val="000000"/>
                </a:solidFill>
                <a:effectLst/>
              </a:rPr>
              <a:t>CONCLUSION</a:t>
            </a:r>
          </a:p>
          <a:p>
            <a:endParaRPr lang="en-IN" sz="2400" b="1" dirty="0"/>
          </a:p>
        </p:txBody>
      </p:sp>
    </p:spTree>
    <p:extLst>
      <p:ext uri="{BB962C8B-B14F-4D97-AF65-F5344CB8AC3E}">
        <p14:creationId xmlns:p14="http://schemas.microsoft.com/office/powerpoint/2010/main" val="709041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525989-B5F0-D303-7FD8-62CD232BD8BB}"/>
              </a:ext>
            </a:extLst>
          </p:cNvPr>
          <p:cNvSpPr txBox="1"/>
          <p:nvPr/>
        </p:nvSpPr>
        <p:spPr>
          <a:xfrm flipH="1">
            <a:off x="904702" y="734292"/>
            <a:ext cx="6186059" cy="584775"/>
          </a:xfrm>
          <a:prstGeom prst="rect">
            <a:avLst/>
          </a:prstGeom>
          <a:noFill/>
        </p:spPr>
        <p:txBody>
          <a:bodyPr wrap="square" rtlCol="0">
            <a:spAutoFit/>
          </a:bodyPr>
          <a:lstStyle/>
          <a:p>
            <a:r>
              <a:rPr lang="en-IN" sz="3200" b="1" dirty="0"/>
              <a:t>ABSTRACT :</a:t>
            </a:r>
            <a:endParaRPr lang="en-IN" b="1" dirty="0"/>
          </a:p>
        </p:txBody>
      </p:sp>
      <p:sp>
        <p:nvSpPr>
          <p:cNvPr id="4" name="TextBox 3">
            <a:extLst>
              <a:ext uri="{FF2B5EF4-FFF2-40B4-BE49-F238E27FC236}">
                <a16:creationId xmlns:a16="http://schemas.microsoft.com/office/drawing/2014/main" id="{96DA1DB2-7D4C-60C1-966D-ED26F5B416B4}"/>
              </a:ext>
            </a:extLst>
          </p:cNvPr>
          <p:cNvSpPr txBox="1"/>
          <p:nvPr/>
        </p:nvSpPr>
        <p:spPr>
          <a:xfrm>
            <a:off x="1163781" y="2189017"/>
            <a:ext cx="9628910" cy="2031325"/>
          </a:xfrm>
          <a:prstGeom prst="rect">
            <a:avLst/>
          </a:prstGeom>
          <a:noFill/>
        </p:spPr>
        <p:txBody>
          <a:bodyPr wrap="square" rtlCol="0">
            <a:spAutoFit/>
          </a:bodyPr>
          <a:lstStyle/>
          <a:p>
            <a:r>
              <a:rPr lang="en-US" sz="1800" b="1">
                <a:effectLst/>
                <a:latin typeface="Calibri Light" panose="020F0302020204030204" pitchFamily="34" charset="0"/>
                <a:ea typeface="Calibri" panose="020F0502020204030204" pitchFamily="34"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r>
              <a:rPr lang="en-US" sz="1800">
                <a:effectLst/>
                <a:latin typeface="Calibri" panose="020F0502020204030204" pitchFamily="34" charset="0"/>
                <a:ea typeface="Calibri" panose="020F0502020204030204" pitchFamily="34" charset="0"/>
                <a:cs typeface="Times New Roman" panose="02020603050405020304" pitchFamily="18" charset="0"/>
              </a:rPr>
              <a:t>Turf playground are used to play various sports like football, rugby, tennis, cricket, etc. People enjoy playing on the turf, it has vibrant environment and very safe to play. Many school teams and clubs prefer turf playground for practice and training purpose. Sometime it becomes difficult to book turf playground because of timing issue or the slot getting booked previously. This sports ground booking website is proposed for booking the turf in an easy and efficient way. It has three modules namely, Admin, Manager and User.</a:t>
            </a:r>
            <a:endParaRPr lang="en-IN" dirty="0"/>
          </a:p>
        </p:txBody>
      </p:sp>
    </p:spTree>
    <p:extLst>
      <p:ext uri="{BB962C8B-B14F-4D97-AF65-F5344CB8AC3E}">
        <p14:creationId xmlns:p14="http://schemas.microsoft.com/office/powerpoint/2010/main" val="59851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DAC52F-8786-0984-B70C-B6B89ECD3303}"/>
              </a:ext>
            </a:extLst>
          </p:cNvPr>
          <p:cNvSpPr txBox="1"/>
          <p:nvPr/>
        </p:nvSpPr>
        <p:spPr>
          <a:xfrm>
            <a:off x="812565" y="928255"/>
            <a:ext cx="4447309" cy="584775"/>
          </a:xfrm>
          <a:prstGeom prst="rect">
            <a:avLst/>
          </a:prstGeom>
          <a:noFill/>
        </p:spPr>
        <p:txBody>
          <a:bodyPr wrap="square" rtlCol="0">
            <a:spAutoFit/>
          </a:bodyPr>
          <a:lstStyle/>
          <a:p>
            <a:r>
              <a:rPr lang="en-IN" sz="3200" b="1" dirty="0"/>
              <a:t>SOFTWARE MODULES  :</a:t>
            </a:r>
            <a:endParaRPr lang="en-IN" sz="3200" dirty="0"/>
          </a:p>
        </p:txBody>
      </p:sp>
      <p:sp>
        <p:nvSpPr>
          <p:cNvPr id="3" name="TextBox 2">
            <a:extLst>
              <a:ext uri="{FF2B5EF4-FFF2-40B4-BE49-F238E27FC236}">
                <a16:creationId xmlns:a16="http://schemas.microsoft.com/office/drawing/2014/main" id="{62F4FA76-470D-EB69-362F-689BCC5C371A}"/>
              </a:ext>
            </a:extLst>
          </p:cNvPr>
          <p:cNvSpPr txBox="1"/>
          <p:nvPr/>
        </p:nvSpPr>
        <p:spPr>
          <a:xfrm rot="10800000" flipH="1" flipV="1">
            <a:off x="812565" y="2259871"/>
            <a:ext cx="7463445" cy="830997"/>
          </a:xfrm>
          <a:prstGeom prst="rect">
            <a:avLst/>
          </a:prstGeom>
          <a:noFill/>
        </p:spPr>
        <p:txBody>
          <a:bodyPr wrap="square" rtlCol="0">
            <a:spAutoFit/>
          </a:bodyPr>
          <a:lstStyle/>
          <a:p>
            <a:r>
              <a:rPr lang="en-US" sz="2400" dirty="0">
                <a:effectLst/>
                <a:latin typeface="Calibri" panose="020F0502020204030204" pitchFamily="34" charset="0"/>
                <a:ea typeface="Calibri" panose="020F0502020204030204" pitchFamily="34" charset="0"/>
                <a:cs typeface="Times New Roman" panose="02020603050405020304" pitchFamily="18" charset="0"/>
              </a:rPr>
              <a:t>The system comprises of 3 major modules with their sub-modules as follows:</a:t>
            </a:r>
            <a:endParaRPr lang="en-IN" sz="2400" dirty="0"/>
          </a:p>
        </p:txBody>
      </p:sp>
      <p:sp>
        <p:nvSpPr>
          <p:cNvPr id="5" name="TextBox 4">
            <a:extLst>
              <a:ext uri="{FF2B5EF4-FFF2-40B4-BE49-F238E27FC236}">
                <a16:creationId xmlns:a16="http://schemas.microsoft.com/office/drawing/2014/main" id="{E2474E25-616F-CE5D-A59C-A3ED76BDC81B}"/>
              </a:ext>
            </a:extLst>
          </p:cNvPr>
          <p:cNvSpPr txBox="1"/>
          <p:nvPr/>
        </p:nvSpPr>
        <p:spPr>
          <a:xfrm flipH="1">
            <a:off x="2581099" y="3837710"/>
            <a:ext cx="3047914" cy="1846659"/>
          </a:xfrm>
          <a:prstGeom prst="rect">
            <a:avLst/>
          </a:prstGeom>
          <a:noFill/>
        </p:spPr>
        <p:txBody>
          <a:bodyPr wrap="square" rtlCol="0">
            <a:spAutoFit/>
          </a:bodyPr>
          <a:lstStyle/>
          <a:p>
            <a:pPr marL="285750" indent="-285750">
              <a:buFont typeface="Wingdings" panose="05000000000000000000" pitchFamily="2" charset="2"/>
              <a:buChar char="v"/>
            </a:pPr>
            <a:r>
              <a:rPr lang="en-US" sz="2400" dirty="0">
                <a:effectLst/>
                <a:latin typeface="Calibri" panose="020F0502020204030204" pitchFamily="34" charset="0"/>
                <a:ea typeface="Calibri" panose="020F0502020204030204" pitchFamily="34" charset="0"/>
                <a:cs typeface="Times New Roman" panose="02020603050405020304" pitchFamily="18" charset="0"/>
              </a:rPr>
              <a:t>Admin Module</a:t>
            </a:r>
          </a:p>
          <a:p>
            <a:pPr marL="285750" indent="-285750">
              <a:buFont typeface="Wingdings" panose="05000000000000000000" pitchFamily="2" charset="2"/>
              <a:buChar char="v"/>
            </a:pPr>
            <a:r>
              <a:rPr lang="en-US" sz="2400" dirty="0">
                <a:effectLst/>
                <a:latin typeface="Calibri" panose="020F0502020204030204" pitchFamily="34" charset="0"/>
                <a:ea typeface="Calibri" panose="020F0502020204030204" pitchFamily="34" charset="0"/>
                <a:cs typeface="Times New Roman" panose="02020603050405020304" pitchFamily="18" charset="0"/>
              </a:rPr>
              <a:t>Manager Module</a:t>
            </a:r>
          </a:p>
          <a:p>
            <a:pPr marL="285750" indent="-285750">
              <a:buFont typeface="Wingdings" panose="05000000000000000000" pitchFamily="2" charset="2"/>
              <a:buChar char="v"/>
            </a:pPr>
            <a:r>
              <a:rPr lang="en-US" sz="2400" dirty="0">
                <a:effectLst/>
                <a:latin typeface="Calibri" panose="020F0502020204030204" pitchFamily="34" charset="0"/>
                <a:ea typeface="Calibri" panose="020F0502020204030204" pitchFamily="34" charset="0"/>
                <a:cs typeface="Times New Roman" panose="02020603050405020304" pitchFamily="18" charset="0"/>
              </a:rPr>
              <a:t>Users Login Module</a:t>
            </a:r>
          </a:p>
          <a:p>
            <a:pPr marL="285750" indent="-285750">
              <a:buFont typeface="Wingdings" panose="05000000000000000000" pitchFamily="2" charset="2"/>
              <a:buChar char="v"/>
            </a:pP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84163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1B4616-2E22-41D8-F5F3-3F7B7B5E407F}"/>
              </a:ext>
            </a:extLst>
          </p:cNvPr>
          <p:cNvSpPr txBox="1"/>
          <p:nvPr/>
        </p:nvSpPr>
        <p:spPr>
          <a:xfrm>
            <a:off x="1267690" y="2637545"/>
            <a:ext cx="10238509" cy="2159566"/>
          </a:xfrm>
          <a:prstGeom prst="rect">
            <a:avLst/>
          </a:prstGeom>
          <a:noFill/>
        </p:spPr>
        <p:txBody>
          <a:bodyPr wrap="square" rtlCol="0">
            <a:spAutoFit/>
          </a:bodyPr>
          <a:lstStyle/>
          <a:p>
            <a:pPr marL="742950" lvl="1" indent="-285750">
              <a:lnSpc>
                <a:spcPct val="150000"/>
              </a:lnSpc>
              <a:buSzPts val="1400"/>
              <a:buFont typeface="Symbol" panose="05050102010706020507" pitchFamily="18" charset="2"/>
              <a:buChar char=""/>
              <a:tabLst>
                <a:tab pos="-145415" algn="l"/>
              </a:tabLs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Add Manager:</a:t>
            </a:r>
            <a:r>
              <a:rPr lang="en-US" sz="1800" dirty="0">
                <a:effectLst/>
                <a:latin typeface="Calibri" panose="020F0502020204030204" pitchFamily="34" charset="0"/>
                <a:ea typeface="Calibri" panose="020F0502020204030204" pitchFamily="34" charset="0"/>
                <a:cs typeface="Times New Roman" panose="02020603050405020304" pitchFamily="18" charset="0"/>
              </a:rPr>
              <a:t> Admin can add turf location and manager of the respective turf location.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buSzPts val="1400"/>
              <a:buFont typeface="Symbol" panose="05050102010706020507" pitchFamily="18" charset="2"/>
              <a:buChar char=""/>
              <a:tabLst>
                <a:tab pos="-145415" algn="l"/>
              </a:tabLs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Add Price List: </a:t>
            </a:r>
            <a:r>
              <a:rPr lang="en-US" sz="1800" dirty="0">
                <a:effectLst/>
                <a:latin typeface="Calibri" panose="020F0502020204030204" pitchFamily="34" charset="0"/>
                <a:ea typeface="Calibri" panose="020F0502020204030204" pitchFamily="34" charset="0"/>
                <a:cs typeface="Times New Roman" panose="02020603050405020304" pitchFamily="18" charset="0"/>
              </a:rPr>
              <a:t>Admin can add price for the respective turfs.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buSzPts val="1400"/>
              <a:buFont typeface="Symbol" panose="05050102010706020507" pitchFamily="18" charset="2"/>
              <a:buChar char=""/>
              <a:tabLst>
                <a:tab pos="-145415" algn="l"/>
              </a:tabLs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Manage Turf: </a:t>
            </a:r>
            <a:r>
              <a:rPr lang="en-US" sz="1800" dirty="0">
                <a:effectLst/>
                <a:latin typeface="Calibri" panose="020F0502020204030204" pitchFamily="34" charset="0"/>
                <a:ea typeface="Calibri" panose="020F0502020204030204" pitchFamily="34" charset="0"/>
                <a:cs typeface="Times New Roman" panose="02020603050405020304" pitchFamily="18" charset="0"/>
              </a:rPr>
              <a:t>Admin can manage turf by allocating turf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spcAft>
                <a:spcPts val="1000"/>
              </a:spcAft>
              <a:buSzPts val="1400"/>
              <a:buFont typeface="Symbol" panose="05050102010706020507" pitchFamily="18" charset="2"/>
              <a:buChar char=""/>
              <a:tabLst>
                <a:tab pos="-145415" algn="l"/>
              </a:tabLs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View Booking: </a:t>
            </a:r>
            <a:r>
              <a:rPr lang="en-US" sz="1800" dirty="0">
                <a:effectLst/>
                <a:latin typeface="Calibri" panose="020F0502020204030204" pitchFamily="34" charset="0"/>
                <a:ea typeface="Calibri" panose="020F0502020204030204" pitchFamily="34" charset="0"/>
                <a:cs typeface="Times New Roman" panose="02020603050405020304" pitchFamily="18" charset="0"/>
              </a:rPr>
              <a:t>Admin can view booking done and the user details.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9CCF7BB9-21F6-CF32-6513-7F56CC135AE8}"/>
              </a:ext>
            </a:extLst>
          </p:cNvPr>
          <p:cNvSpPr txBox="1"/>
          <p:nvPr/>
        </p:nvSpPr>
        <p:spPr>
          <a:xfrm flipH="1">
            <a:off x="960119" y="983672"/>
            <a:ext cx="3855161" cy="1077218"/>
          </a:xfrm>
          <a:prstGeom prst="rect">
            <a:avLst/>
          </a:prstGeom>
          <a:noFill/>
        </p:spPr>
        <p:txBody>
          <a:bodyPr wrap="square" rtlCol="0">
            <a:spAutoFit/>
          </a:bodyPr>
          <a:lstStyle/>
          <a:p>
            <a:pPr marL="457200" indent="-457200">
              <a:buFont typeface="Wingdings" panose="05000000000000000000" pitchFamily="2" charset="2"/>
              <a:buChar char="v"/>
            </a:pPr>
            <a:r>
              <a:rPr lang="en-US" sz="3200" b="1" dirty="0">
                <a:effectLst/>
                <a:latin typeface="Calibri" panose="020F0502020204030204" pitchFamily="34" charset="0"/>
                <a:ea typeface="Calibri" panose="020F0502020204030204" pitchFamily="34" charset="0"/>
                <a:cs typeface="Times New Roman" panose="02020603050405020304" pitchFamily="18" charset="0"/>
              </a:rPr>
              <a:t>Admin Module:</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3200" dirty="0"/>
          </a:p>
        </p:txBody>
      </p:sp>
    </p:spTree>
    <p:extLst>
      <p:ext uri="{BB962C8B-B14F-4D97-AF65-F5344CB8AC3E}">
        <p14:creationId xmlns:p14="http://schemas.microsoft.com/office/powerpoint/2010/main" val="1920449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661567-39F4-EBF7-88A6-19C9B913CF24}"/>
              </a:ext>
            </a:extLst>
          </p:cNvPr>
          <p:cNvSpPr txBox="1"/>
          <p:nvPr/>
        </p:nvSpPr>
        <p:spPr>
          <a:xfrm>
            <a:off x="1565564" y="2299856"/>
            <a:ext cx="9579035" cy="2990562"/>
          </a:xfrm>
          <a:prstGeom prst="rect">
            <a:avLst/>
          </a:prstGeom>
          <a:noFill/>
        </p:spPr>
        <p:txBody>
          <a:bodyPr wrap="square" rtlCol="0">
            <a:spAutoFit/>
          </a:bodyPr>
          <a:lstStyle/>
          <a:p>
            <a:pPr marL="742950" lvl="1" indent="-285750">
              <a:lnSpc>
                <a:spcPct val="150000"/>
              </a:lnSpc>
              <a:buSzPts val="1400"/>
              <a:buFont typeface="Symbol" panose="05050102010706020507" pitchFamily="18" charset="2"/>
              <a:buChar char=""/>
              <a:tabLst>
                <a:tab pos="-145415" algn="l"/>
              </a:tabLs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Login: </a:t>
            </a:r>
            <a:r>
              <a:rPr lang="en-US" sz="1800" dirty="0">
                <a:effectLst/>
                <a:latin typeface="Calibri" panose="020F0502020204030204" pitchFamily="34" charset="0"/>
                <a:ea typeface="Calibri" panose="020F0502020204030204" pitchFamily="34" charset="0"/>
                <a:cs typeface="Times New Roman" panose="02020603050405020304" pitchFamily="18" charset="0"/>
              </a:rPr>
              <a:t>Manager can login with the credentials provided by user.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buSzPts val="1400"/>
              <a:buFont typeface="Symbol" panose="05050102010706020507" pitchFamily="18" charset="2"/>
              <a:buChar char=""/>
              <a:tabLst>
                <a:tab pos="-145415" algn="l"/>
              </a:tabLs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Check Rates:</a:t>
            </a:r>
            <a:r>
              <a:rPr lang="en-US" sz="1800" dirty="0">
                <a:effectLst/>
                <a:latin typeface="Calibri" panose="020F0502020204030204" pitchFamily="34" charset="0"/>
                <a:ea typeface="Calibri" panose="020F0502020204030204" pitchFamily="34" charset="0"/>
                <a:cs typeface="Times New Roman" panose="02020603050405020304" pitchFamily="18" charset="0"/>
              </a:rPr>
              <a:t> Manager can check rates for the respective location turf.</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buSzPts val="1400"/>
              <a:buFont typeface="Symbol" panose="05050102010706020507" pitchFamily="18" charset="2"/>
              <a:buChar char=""/>
              <a:tabLst>
                <a:tab pos="-145415" algn="l"/>
              </a:tabLs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View Request:</a:t>
            </a:r>
            <a:r>
              <a:rPr lang="en-US" sz="1800" dirty="0">
                <a:effectLst/>
                <a:latin typeface="Calibri" panose="020F0502020204030204" pitchFamily="34" charset="0"/>
                <a:ea typeface="Calibri" panose="020F0502020204030204" pitchFamily="34" charset="0"/>
                <a:cs typeface="Times New Roman" panose="02020603050405020304" pitchFamily="18" charset="0"/>
              </a:rPr>
              <a:t> Manager can view request for turf bookings.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buSzPts val="1400"/>
              <a:buFont typeface="Symbol" panose="05050102010706020507" pitchFamily="18" charset="2"/>
              <a:buChar char=""/>
              <a:tabLst>
                <a:tab pos="-145415" algn="l"/>
              </a:tabLs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Confirm Booking: </a:t>
            </a:r>
            <a:r>
              <a:rPr lang="en-US" sz="1800" dirty="0">
                <a:effectLst/>
                <a:latin typeface="Calibri" panose="020F0502020204030204" pitchFamily="34" charset="0"/>
                <a:ea typeface="Calibri" panose="020F0502020204030204" pitchFamily="34" charset="0"/>
                <a:cs typeface="Times New Roman" panose="02020603050405020304" pitchFamily="18" charset="0"/>
              </a:rPr>
              <a:t>Manager can confirm the booking of the turf</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buSzPts val="1400"/>
              <a:buFont typeface="Symbol" panose="05050102010706020507" pitchFamily="18" charset="2"/>
              <a:buChar char=""/>
              <a:tabLst>
                <a:tab pos="-145415" algn="l"/>
              </a:tabLs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Bill Generation:</a:t>
            </a:r>
            <a:r>
              <a:rPr lang="en-US" sz="1800" dirty="0">
                <a:effectLst/>
                <a:latin typeface="Calibri" panose="020F0502020204030204" pitchFamily="34" charset="0"/>
                <a:ea typeface="Calibri" panose="020F0502020204030204" pitchFamily="34" charset="0"/>
                <a:cs typeface="Times New Roman" panose="02020603050405020304" pitchFamily="18" charset="0"/>
              </a:rPr>
              <a:t> Manager can generate bills as per the rates.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spcAft>
                <a:spcPts val="1000"/>
              </a:spcAft>
              <a:buSzPts val="1400"/>
              <a:buFont typeface="Symbol" panose="05050102010706020507" pitchFamily="18" charset="2"/>
              <a:buChar char=""/>
              <a:tabLst>
                <a:tab pos="-145415" algn="l"/>
              </a:tabLs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Bookings History:</a:t>
            </a:r>
            <a:r>
              <a:rPr lang="en-US" sz="1800" dirty="0">
                <a:effectLst/>
                <a:latin typeface="Calibri" panose="020F0502020204030204" pitchFamily="34" charset="0"/>
                <a:ea typeface="Calibri" panose="020F0502020204030204" pitchFamily="34" charset="0"/>
                <a:cs typeface="Times New Roman" panose="02020603050405020304" pitchFamily="18" charset="0"/>
              </a:rPr>
              <a:t> Manager can check previous booking history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7B3763A3-7EA1-E701-B154-E237CD110E93}"/>
              </a:ext>
            </a:extLst>
          </p:cNvPr>
          <p:cNvSpPr txBox="1"/>
          <p:nvPr/>
        </p:nvSpPr>
        <p:spPr>
          <a:xfrm flipH="1">
            <a:off x="1140228" y="942108"/>
            <a:ext cx="4044168" cy="1077218"/>
          </a:xfrm>
          <a:prstGeom prst="rect">
            <a:avLst/>
          </a:prstGeom>
          <a:noFill/>
        </p:spPr>
        <p:txBody>
          <a:bodyPr wrap="square" rtlCol="0">
            <a:spAutoFit/>
          </a:bodyPr>
          <a:lstStyle/>
          <a:p>
            <a:pPr marL="457200" indent="-457200">
              <a:buFont typeface="Wingdings" panose="05000000000000000000" pitchFamily="2" charset="2"/>
              <a:buChar char="v"/>
            </a:pPr>
            <a:r>
              <a:rPr lang="en-US" sz="3200" b="1" dirty="0">
                <a:effectLst/>
                <a:latin typeface="Calibri" panose="020F0502020204030204" pitchFamily="34" charset="0"/>
                <a:ea typeface="Calibri" panose="020F0502020204030204" pitchFamily="34" charset="0"/>
                <a:cs typeface="Times New Roman" panose="02020603050405020304" pitchFamily="18" charset="0"/>
              </a:rPr>
              <a:t>Manager Module:</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3200" dirty="0"/>
          </a:p>
        </p:txBody>
      </p:sp>
    </p:spTree>
    <p:extLst>
      <p:ext uri="{BB962C8B-B14F-4D97-AF65-F5344CB8AC3E}">
        <p14:creationId xmlns:p14="http://schemas.microsoft.com/office/powerpoint/2010/main" val="562220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FAB437-B112-B6D0-EAE2-34118109AEFC}"/>
              </a:ext>
            </a:extLst>
          </p:cNvPr>
          <p:cNvSpPr txBox="1"/>
          <p:nvPr/>
        </p:nvSpPr>
        <p:spPr>
          <a:xfrm>
            <a:off x="1094509" y="2349217"/>
            <a:ext cx="10002982" cy="2159566"/>
          </a:xfrm>
          <a:prstGeom prst="rect">
            <a:avLst/>
          </a:prstGeom>
          <a:noFill/>
        </p:spPr>
        <p:txBody>
          <a:bodyPr wrap="square" rtlCol="0">
            <a:spAutoFit/>
          </a:bodyPr>
          <a:lstStyle/>
          <a:p>
            <a:pPr marL="742950" lvl="1" indent="-285750">
              <a:lnSpc>
                <a:spcPct val="150000"/>
              </a:lnSpc>
              <a:buSzPts val="1400"/>
              <a:buFont typeface="Symbol" panose="05050102010706020507" pitchFamily="18" charset="2"/>
              <a:buChar char=""/>
              <a:tabLst>
                <a:tab pos="-145415" algn="l"/>
              </a:tabLs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Check Turf:</a:t>
            </a:r>
            <a:r>
              <a:rPr lang="en-US" sz="1800" dirty="0">
                <a:effectLst/>
                <a:latin typeface="Calibri" panose="020F0502020204030204" pitchFamily="34" charset="0"/>
                <a:ea typeface="Calibri" panose="020F0502020204030204" pitchFamily="34" charset="0"/>
                <a:cs typeface="Times New Roman" panose="02020603050405020304" pitchFamily="18" charset="0"/>
              </a:rPr>
              <a:t> User can check for turf of nearby location and prices.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buSzPts val="1400"/>
              <a:buFont typeface="Symbol" panose="05050102010706020507" pitchFamily="18" charset="2"/>
              <a:buChar char=""/>
              <a:tabLst>
                <a:tab pos="-145415" algn="l"/>
              </a:tabLs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Check Availability:</a:t>
            </a:r>
            <a:r>
              <a:rPr lang="en-US" sz="1800" dirty="0">
                <a:effectLst/>
                <a:latin typeface="Calibri" panose="020F0502020204030204" pitchFamily="34" charset="0"/>
                <a:ea typeface="Calibri" panose="020F0502020204030204" pitchFamily="34" charset="0"/>
                <a:cs typeface="Times New Roman" panose="02020603050405020304" pitchFamily="18" charset="0"/>
              </a:rPr>
              <a:t> User can see the availability of the respective turf which is selected by him.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buSzPts val="1400"/>
              <a:buFont typeface="Symbol" panose="05050102010706020507" pitchFamily="18" charset="2"/>
              <a:buChar char=""/>
              <a:tabLst>
                <a:tab pos="-145415" algn="l"/>
              </a:tabLs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Book Turf:</a:t>
            </a:r>
            <a:r>
              <a:rPr lang="en-US" sz="1800" dirty="0">
                <a:effectLst/>
                <a:latin typeface="Calibri" panose="020F0502020204030204" pitchFamily="34" charset="0"/>
                <a:ea typeface="Calibri" panose="020F0502020204030204" pitchFamily="34" charset="0"/>
                <a:cs typeface="Times New Roman" panose="02020603050405020304" pitchFamily="18" charset="0"/>
              </a:rPr>
              <a:t> User can provide date, time and other personal details and he can also do payment.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spcAft>
                <a:spcPts val="1000"/>
              </a:spcAft>
              <a:buSzPts val="1400"/>
              <a:buFont typeface="Symbol" panose="05050102010706020507" pitchFamily="18" charset="2"/>
              <a:buChar char=""/>
              <a:tabLst>
                <a:tab pos="-145415" algn="l"/>
              </a:tabLs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Booking History:</a:t>
            </a:r>
            <a:r>
              <a:rPr lang="en-US" sz="1800" dirty="0">
                <a:effectLst/>
                <a:latin typeface="Calibri" panose="020F0502020204030204" pitchFamily="34" charset="0"/>
                <a:ea typeface="Calibri" panose="020F0502020204030204" pitchFamily="34" charset="0"/>
                <a:cs typeface="Times New Roman" panose="02020603050405020304" pitchFamily="18" charset="0"/>
              </a:rPr>
              <a:t> User can see his previous booking history.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7D728B0D-18D6-D75C-2906-BB814F3536C8}"/>
              </a:ext>
            </a:extLst>
          </p:cNvPr>
          <p:cNvSpPr txBox="1"/>
          <p:nvPr/>
        </p:nvSpPr>
        <p:spPr>
          <a:xfrm flipH="1">
            <a:off x="918555" y="1119599"/>
            <a:ext cx="4265840" cy="1077218"/>
          </a:xfrm>
          <a:prstGeom prst="rect">
            <a:avLst/>
          </a:prstGeom>
          <a:noFill/>
        </p:spPr>
        <p:txBody>
          <a:bodyPr wrap="square" rtlCol="0">
            <a:spAutoFit/>
          </a:bodyPr>
          <a:lstStyle/>
          <a:p>
            <a:pPr marL="457200" indent="-457200">
              <a:buFont typeface="Wingdings" panose="05000000000000000000" pitchFamily="2" charset="2"/>
              <a:buChar char="v"/>
            </a:pPr>
            <a:r>
              <a:rPr lang="en-US" sz="3200" b="1" dirty="0">
                <a:effectLst/>
                <a:latin typeface="Calibri" panose="020F0502020204030204" pitchFamily="34" charset="0"/>
                <a:ea typeface="Calibri" panose="020F0502020204030204" pitchFamily="34" charset="0"/>
                <a:cs typeface="Times New Roman" panose="02020603050405020304" pitchFamily="18" charset="0"/>
              </a:rPr>
              <a:t>Users Login  Module:</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3200" dirty="0"/>
          </a:p>
        </p:txBody>
      </p:sp>
    </p:spTree>
    <p:extLst>
      <p:ext uri="{BB962C8B-B14F-4D97-AF65-F5344CB8AC3E}">
        <p14:creationId xmlns:p14="http://schemas.microsoft.com/office/powerpoint/2010/main" val="2989217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96048F-DE09-6228-1EC4-62875CA7BB2F}"/>
              </a:ext>
            </a:extLst>
          </p:cNvPr>
          <p:cNvSpPr txBox="1"/>
          <p:nvPr/>
        </p:nvSpPr>
        <p:spPr>
          <a:xfrm>
            <a:off x="886691" y="817418"/>
            <a:ext cx="7363691" cy="1077218"/>
          </a:xfrm>
          <a:prstGeom prst="rect">
            <a:avLst/>
          </a:prstGeom>
          <a:noFill/>
        </p:spPr>
        <p:txBody>
          <a:bodyPr wrap="square" rtlCol="0">
            <a:spAutoFit/>
          </a:bodyPr>
          <a:lstStyle/>
          <a:p>
            <a:r>
              <a:rPr lang="en-IN" sz="3200" b="1" dirty="0"/>
              <a:t>DATA FLOW DIAGRAM :</a:t>
            </a:r>
          </a:p>
          <a:p>
            <a:endParaRPr lang="en-IN" sz="3200" dirty="0"/>
          </a:p>
        </p:txBody>
      </p:sp>
      <p:pic>
        <p:nvPicPr>
          <p:cNvPr id="6" name="Picture 5">
            <a:extLst>
              <a:ext uri="{FF2B5EF4-FFF2-40B4-BE49-F238E27FC236}">
                <a16:creationId xmlns:a16="http://schemas.microsoft.com/office/drawing/2014/main" id="{48CB594F-275D-99CE-860F-D575C523B0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4286" y="1648691"/>
            <a:ext cx="4957931" cy="4668982"/>
          </a:xfrm>
          <a:prstGeom prst="rect">
            <a:avLst/>
          </a:prstGeom>
        </p:spPr>
      </p:pic>
    </p:spTree>
    <p:extLst>
      <p:ext uri="{BB962C8B-B14F-4D97-AF65-F5344CB8AC3E}">
        <p14:creationId xmlns:p14="http://schemas.microsoft.com/office/powerpoint/2010/main" val="919248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5BC14A-5EA7-6AA6-E073-415A89EDF11C}"/>
              </a:ext>
            </a:extLst>
          </p:cNvPr>
          <p:cNvSpPr txBox="1"/>
          <p:nvPr/>
        </p:nvSpPr>
        <p:spPr>
          <a:xfrm>
            <a:off x="734291" y="764370"/>
            <a:ext cx="6096000" cy="1354217"/>
          </a:xfrm>
          <a:prstGeom prst="rect">
            <a:avLst/>
          </a:prstGeom>
          <a:noFill/>
        </p:spPr>
        <p:txBody>
          <a:bodyPr wrap="square">
            <a:spAutoFit/>
          </a:bodyPr>
          <a:lstStyle/>
          <a:p>
            <a:r>
              <a:rPr lang="en-IN" sz="3200" b="1" dirty="0"/>
              <a:t>ALGRORITHM :</a:t>
            </a:r>
          </a:p>
          <a:p>
            <a:r>
              <a:rPr lang="en-IN" sz="3200" b="1" dirty="0"/>
              <a:t> </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b="1" dirty="0"/>
          </a:p>
        </p:txBody>
      </p:sp>
      <p:sp>
        <p:nvSpPr>
          <p:cNvPr id="4" name="TextBox 3">
            <a:extLst>
              <a:ext uri="{FF2B5EF4-FFF2-40B4-BE49-F238E27FC236}">
                <a16:creationId xmlns:a16="http://schemas.microsoft.com/office/drawing/2014/main" id="{EF4993F2-A06D-91BC-8976-AF06AC8CD830}"/>
              </a:ext>
            </a:extLst>
          </p:cNvPr>
          <p:cNvSpPr txBox="1"/>
          <p:nvPr/>
        </p:nvSpPr>
        <p:spPr>
          <a:xfrm>
            <a:off x="1366056" y="2355272"/>
            <a:ext cx="9939253" cy="2862322"/>
          </a:xfrm>
          <a:prstGeom prst="rect">
            <a:avLst/>
          </a:prstGeom>
          <a:noFill/>
        </p:spPr>
        <p:txBody>
          <a:bodyPr wrap="square" rtlCol="0">
            <a:spAutoFit/>
          </a:bodyPr>
          <a:lstStyle/>
          <a:p>
            <a:r>
              <a:rPr lang="en-US" b="1" dirty="0"/>
              <a:t>User registration: </a:t>
            </a:r>
            <a:r>
              <a:rPr lang="en-US" dirty="0"/>
              <a:t>The first step is for users to create an account by providing their personal details, including name, email, phone number, and address. The system should also verify the user's email address and phone number.</a:t>
            </a:r>
          </a:p>
          <a:p>
            <a:r>
              <a:rPr lang="en-US" b="1" dirty="0"/>
              <a:t>Playground listing: </a:t>
            </a:r>
            <a:r>
              <a:rPr lang="en-US" dirty="0"/>
              <a:t>The system should display a list of available playgrounds, including their location, available time slots, and prices. The user should be able to filter and sort the list based on various criteria such as location, time, and price.</a:t>
            </a:r>
          </a:p>
          <a:p>
            <a:r>
              <a:rPr lang="en-US" b="1" dirty="0"/>
              <a:t>Booking selection: </a:t>
            </a:r>
            <a:r>
              <a:rPr lang="en-US" dirty="0"/>
              <a:t>The user can select the preferred playground and the desired time slot based on availability.</a:t>
            </a:r>
          </a:p>
          <a:p>
            <a:r>
              <a:rPr lang="en-US" b="1" dirty="0"/>
              <a:t>Booking confirmation: </a:t>
            </a:r>
            <a:r>
              <a:rPr lang="en-US" dirty="0"/>
              <a:t>The system should verify the user's payment information and confirm the booking.</a:t>
            </a:r>
          </a:p>
        </p:txBody>
      </p:sp>
    </p:spTree>
    <p:extLst>
      <p:ext uri="{BB962C8B-B14F-4D97-AF65-F5344CB8AC3E}">
        <p14:creationId xmlns:p14="http://schemas.microsoft.com/office/powerpoint/2010/main" val="1942712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3D6696-EEDA-C990-D2D4-6889110EB692}"/>
              </a:ext>
            </a:extLst>
          </p:cNvPr>
          <p:cNvSpPr txBox="1"/>
          <p:nvPr/>
        </p:nvSpPr>
        <p:spPr>
          <a:xfrm>
            <a:off x="1648691" y="1443841"/>
            <a:ext cx="8298872" cy="3970318"/>
          </a:xfrm>
          <a:prstGeom prst="rect">
            <a:avLst/>
          </a:prstGeom>
          <a:noFill/>
        </p:spPr>
        <p:txBody>
          <a:bodyPr wrap="square" rtlCol="0">
            <a:spAutoFit/>
          </a:bodyPr>
          <a:lstStyle/>
          <a:p>
            <a:r>
              <a:rPr lang="en-US" b="1" dirty="0"/>
              <a:t>Payment: </a:t>
            </a:r>
            <a:r>
              <a:rPr lang="en-US" dirty="0"/>
              <a:t>The system should accept payment from the user using various payment methods such as credit/debit cards, online payment systems, or mobile payment apps.</a:t>
            </a:r>
          </a:p>
          <a:p>
            <a:r>
              <a:rPr lang="en-US" b="1" dirty="0"/>
              <a:t>Booking management: </a:t>
            </a:r>
            <a:r>
              <a:rPr lang="en-US" dirty="0"/>
              <a:t>The system should allow the user to manage their booking, including rescheduling or canceling the booking, and obtaining a refund.</a:t>
            </a:r>
          </a:p>
          <a:p>
            <a:r>
              <a:rPr lang="en-US" b="1" dirty="0"/>
              <a:t>Admin management: </a:t>
            </a:r>
            <a:r>
              <a:rPr lang="en-US" dirty="0"/>
              <a:t>The system should allow the admin to manage the playgrounds, including adding, removing, or updating the playgrounds, and setting the available time slots and prices.</a:t>
            </a:r>
          </a:p>
          <a:p>
            <a:r>
              <a:rPr lang="en-US" b="1" dirty="0"/>
              <a:t>Reporting: </a:t>
            </a:r>
            <a:r>
              <a:rPr lang="en-US" dirty="0"/>
              <a:t>The system should generate reports that provide insights into the booking trends, revenue, and customer behavior.</a:t>
            </a:r>
          </a:p>
          <a:p>
            <a:r>
              <a:rPr lang="en-US" b="1" dirty="0"/>
              <a:t>Notifications: </a:t>
            </a:r>
            <a:r>
              <a:rPr lang="en-US" dirty="0"/>
              <a:t>The system should notify the user of their booking confirmation, payment status, and any changes or updates related to their booking.</a:t>
            </a:r>
          </a:p>
          <a:p>
            <a:r>
              <a:rPr lang="en-US" b="1" dirty="0"/>
              <a:t>Security: </a:t>
            </a:r>
            <a:r>
              <a:rPr lang="en-US" dirty="0"/>
              <a:t>The system should ensure the security of user data and payment information by implementing encryption, authentication, and authorization measures.</a:t>
            </a:r>
            <a:endParaRPr lang="en-IN" dirty="0"/>
          </a:p>
          <a:p>
            <a:endParaRPr lang="en-IN" dirty="0"/>
          </a:p>
        </p:txBody>
      </p:sp>
    </p:spTree>
    <p:extLst>
      <p:ext uri="{BB962C8B-B14F-4D97-AF65-F5344CB8AC3E}">
        <p14:creationId xmlns:p14="http://schemas.microsoft.com/office/powerpoint/2010/main" val="3944504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2A311B-BCD9-C398-131C-EBF48CD5BC2F}"/>
              </a:ext>
            </a:extLst>
          </p:cNvPr>
          <p:cNvSpPr txBox="1"/>
          <p:nvPr/>
        </p:nvSpPr>
        <p:spPr>
          <a:xfrm>
            <a:off x="777588" y="833644"/>
            <a:ext cx="6096000" cy="584775"/>
          </a:xfrm>
          <a:prstGeom prst="rect">
            <a:avLst/>
          </a:prstGeom>
          <a:noFill/>
        </p:spPr>
        <p:txBody>
          <a:bodyPr wrap="square">
            <a:spAutoFit/>
          </a:bodyPr>
          <a:lstStyle/>
          <a:p>
            <a:r>
              <a:rPr lang="en-IN" sz="3200" b="1" dirty="0"/>
              <a:t>DATABASE DESIGN :</a:t>
            </a:r>
          </a:p>
        </p:txBody>
      </p:sp>
      <p:sp>
        <p:nvSpPr>
          <p:cNvPr id="5" name="TextBox 4">
            <a:extLst>
              <a:ext uri="{FF2B5EF4-FFF2-40B4-BE49-F238E27FC236}">
                <a16:creationId xmlns:a16="http://schemas.microsoft.com/office/drawing/2014/main" id="{4196FBAB-A40A-2969-0389-1444C4459594}"/>
              </a:ext>
            </a:extLst>
          </p:cNvPr>
          <p:cNvSpPr txBox="1"/>
          <p:nvPr/>
        </p:nvSpPr>
        <p:spPr>
          <a:xfrm>
            <a:off x="777152" y="1873191"/>
            <a:ext cx="2050473" cy="2862322"/>
          </a:xfrm>
          <a:prstGeom prst="rect">
            <a:avLst/>
          </a:prstGeom>
          <a:noFill/>
        </p:spPr>
        <p:txBody>
          <a:bodyPr wrap="square" rtlCol="0">
            <a:spAutoFit/>
          </a:bodyPr>
          <a:lstStyle/>
          <a:p>
            <a:r>
              <a:rPr lang="en-IN" dirty="0"/>
              <a:t>+---------------+ </a:t>
            </a:r>
          </a:p>
          <a:p>
            <a:r>
              <a:rPr lang="en-IN" dirty="0"/>
              <a:t>|    Users      |                              +---------------+                              | user id (PK)  |                              | name          |                              | email         |                              | phone number |                              | address       |                              | password      |                              +---------------+</a:t>
            </a:r>
          </a:p>
        </p:txBody>
      </p:sp>
      <p:sp>
        <p:nvSpPr>
          <p:cNvPr id="6" name="TextBox 5">
            <a:extLst>
              <a:ext uri="{FF2B5EF4-FFF2-40B4-BE49-F238E27FC236}">
                <a16:creationId xmlns:a16="http://schemas.microsoft.com/office/drawing/2014/main" id="{8B51AA60-ADF4-B4C6-BFC1-CEF70EA9783A}"/>
              </a:ext>
            </a:extLst>
          </p:cNvPr>
          <p:cNvSpPr txBox="1"/>
          <p:nvPr/>
        </p:nvSpPr>
        <p:spPr>
          <a:xfrm>
            <a:off x="5401532" y="1873192"/>
            <a:ext cx="1939637" cy="2585323"/>
          </a:xfrm>
          <a:prstGeom prst="rect">
            <a:avLst/>
          </a:prstGeom>
          <a:noFill/>
        </p:spPr>
        <p:txBody>
          <a:bodyPr wrap="square" rtlCol="0">
            <a:spAutoFit/>
          </a:bodyPr>
          <a:lstStyle/>
          <a:p>
            <a:r>
              <a:rPr lang="en-IN"/>
              <a:t> +---------------+                              |  Playground   |                              +---------------+                              | playground_id |                              | name          |                              | address       |                              | capacity      |                              | price_per_hour|                              +---------------+</a:t>
            </a:r>
            <a:endParaRPr lang="en-IN" dirty="0"/>
          </a:p>
        </p:txBody>
      </p:sp>
      <p:sp>
        <p:nvSpPr>
          <p:cNvPr id="7" name="TextBox 6">
            <a:extLst>
              <a:ext uri="{FF2B5EF4-FFF2-40B4-BE49-F238E27FC236}">
                <a16:creationId xmlns:a16="http://schemas.microsoft.com/office/drawing/2014/main" id="{D66E392B-A74F-7ADC-EFD8-17E76A209B50}"/>
              </a:ext>
            </a:extLst>
          </p:cNvPr>
          <p:cNvSpPr txBox="1"/>
          <p:nvPr/>
        </p:nvSpPr>
        <p:spPr>
          <a:xfrm>
            <a:off x="2964870" y="1878853"/>
            <a:ext cx="2299853" cy="2862322"/>
          </a:xfrm>
          <a:prstGeom prst="rect">
            <a:avLst/>
          </a:prstGeom>
          <a:noFill/>
        </p:spPr>
        <p:txBody>
          <a:bodyPr wrap="square" rtlCol="0">
            <a:spAutoFit/>
          </a:bodyPr>
          <a:lstStyle/>
          <a:p>
            <a:r>
              <a:rPr lang="en-IN" dirty="0"/>
              <a:t>+---------------+                              |    Booking    |                              +---------------+                              | </a:t>
            </a:r>
            <a:r>
              <a:rPr lang="en-IN" dirty="0" err="1"/>
              <a:t>booking_id</a:t>
            </a:r>
            <a:r>
              <a:rPr lang="en-IN" dirty="0"/>
              <a:t> (PK)|                              | </a:t>
            </a:r>
            <a:r>
              <a:rPr lang="en-IN" dirty="0" err="1"/>
              <a:t>user_id</a:t>
            </a:r>
            <a:r>
              <a:rPr lang="en-IN" dirty="0"/>
              <a:t> (FK)  |                              | </a:t>
            </a:r>
            <a:r>
              <a:rPr lang="en-IN" dirty="0" err="1"/>
              <a:t>playground_id</a:t>
            </a:r>
            <a:r>
              <a:rPr lang="en-IN" dirty="0"/>
              <a:t> (FK)|                              | </a:t>
            </a:r>
            <a:r>
              <a:rPr lang="en-IN" dirty="0" err="1"/>
              <a:t>start_time</a:t>
            </a:r>
            <a:r>
              <a:rPr lang="en-IN" dirty="0"/>
              <a:t>    |                              | </a:t>
            </a:r>
            <a:r>
              <a:rPr lang="en-IN" dirty="0" err="1"/>
              <a:t>end_time</a:t>
            </a:r>
            <a:r>
              <a:rPr lang="en-IN" dirty="0"/>
              <a:t>      |                              | </a:t>
            </a:r>
            <a:r>
              <a:rPr lang="en-IN" dirty="0" err="1"/>
              <a:t>total_price</a:t>
            </a:r>
            <a:r>
              <a:rPr lang="en-IN" dirty="0"/>
              <a:t>   |                              +---------------+</a:t>
            </a:r>
          </a:p>
        </p:txBody>
      </p:sp>
      <p:sp>
        <p:nvSpPr>
          <p:cNvPr id="8" name="TextBox 7">
            <a:extLst>
              <a:ext uri="{FF2B5EF4-FFF2-40B4-BE49-F238E27FC236}">
                <a16:creationId xmlns:a16="http://schemas.microsoft.com/office/drawing/2014/main" id="{FF2DD37E-EBEF-C027-0893-E0652E951ED6}"/>
              </a:ext>
            </a:extLst>
          </p:cNvPr>
          <p:cNvSpPr txBox="1"/>
          <p:nvPr/>
        </p:nvSpPr>
        <p:spPr>
          <a:xfrm>
            <a:off x="9666133" y="1878853"/>
            <a:ext cx="2944096" cy="2862322"/>
          </a:xfrm>
          <a:prstGeom prst="rect">
            <a:avLst/>
          </a:prstGeom>
          <a:noFill/>
        </p:spPr>
        <p:txBody>
          <a:bodyPr wrap="square" rtlCol="0">
            <a:spAutoFit/>
          </a:bodyPr>
          <a:lstStyle/>
          <a:p>
            <a:r>
              <a:rPr lang="en-IN" dirty="0"/>
              <a:t> +---------------+                              |    Payment    |                              +---------------+                              | </a:t>
            </a:r>
            <a:r>
              <a:rPr lang="en-IN" dirty="0" err="1"/>
              <a:t>payment_id</a:t>
            </a:r>
            <a:r>
              <a:rPr lang="en-IN" dirty="0"/>
              <a:t> (PK)|                              | </a:t>
            </a:r>
            <a:r>
              <a:rPr lang="en-IN" dirty="0" err="1"/>
              <a:t>user_id</a:t>
            </a:r>
            <a:r>
              <a:rPr lang="en-IN" dirty="0"/>
              <a:t> (FK)  |                              | </a:t>
            </a:r>
            <a:r>
              <a:rPr lang="en-IN" dirty="0" err="1"/>
              <a:t>booking_id</a:t>
            </a:r>
            <a:r>
              <a:rPr lang="en-IN" dirty="0"/>
              <a:t> (FK)|                              | </a:t>
            </a:r>
            <a:r>
              <a:rPr lang="en-IN" dirty="0" err="1"/>
              <a:t>payment_method</a:t>
            </a:r>
            <a:r>
              <a:rPr lang="en-IN" dirty="0"/>
              <a:t>|                              | amount        |                              | </a:t>
            </a:r>
            <a:r>
              <a:rPr lang="en-IN" dirty="0" err="1"/>
              <a:t>transaction_id</a:t>
            </a:r>
            <a:r>
              <a:rPr lang="en-IN" dirty="0"/>
              <a:t>|                              +---------------+</a:t>
            </a:r>
          </a:p>
        </p:txBody>
      </p:sp>
      <p:sp>
        <p:nvSpPr>
          <p:cNvPr id="9" name="TextBox 8">
            <a:extLst>
              <a:ext uri="{FF2B5EF4-FFF2-40B4-BE49-F238E27FC236}">
                <a16:creationId xmlns:a16="http://schemas.microsoft.com/office/drawing/2014/main" id="{E93422C4-EF8B-865C-EBF6-F615750F0271}"/>
              </a:ext>
            </a:extLst>
          </p:cNvPr>
          <p:cNvSpPr txBox="1"/>
          <p:nvPr/>
        </p:nvSpPr>
        <p:spPr>
          <a:xfrm>
            <a:off x="7589687" y="1873191"/>
            <a:ext cx="2078182" cy="2585323"/>
          </a:xfrm>
          <a:prstGeom prst="rect">
            <a:avLst/>
          </a:prstGeom>
          <a:noFill/>
        </p:spPr>
        <p:txBody>
          <a:bodyPr wrap="square" rtlCol="0">
            <a:spAutoFit/>
          </a:bodyPr>
          <a:lstStyle/>
          <a:p>
            <a:r>
              <a:rPr lang="en-IN"/>
              <a:t> +---------------+                              |     Admin     |                              +---------------+                              | admin_id (PK) |                              | name          |                              | email         |                              | phone_number  |                              | password      |                              +---------------+</a:t>
            </a:r>
            <a:endParaRPr lang="en-IN" dirty="0"/>
          </a:p>
        </p:txBody>
      </p:sp>
    </p:spTree>
    <p:extLst>
      <p:ext uri="{BB962C8B-B14F-4D97-AF65-F5344CB8AC3E}">
        <p14:creationId xmlns:p14="http://schemas.microsoft.com/office/powerpoint/2010/main" val="3168557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72FF08-1093-0520-4A84-5E5E93DC3970}"/>
              </a:ext>
            </a:extLst>
          </p:cNvPr>
          <p:cNvSpPr txBox="1"/>
          <p:nvPr/>
        </p:nvSpPr>
        <p:spPr>
          <a:xfrm>
            <a:off x="752421" y="640697"/>
            <a:ext cx="6096000" cy="584775"/>
          </a:xfrm>
          <a:prstGeom prst="rect">
            <a:avLst/>
          </a:prstGeom>
          <a:noFill/>
        </p:spPr>
        <p:txBody>
          <a:bodyPr wrap="square">
            <a:spAutoFit/>
          </a:bodyPr>
          <a:lstStyle/>
          <a:p>
            <a:r>
              <a:rPr lang="en-IN" sz="3200" b="1" dirty="0"/>
              <a:t>CODING :</a:t>
            </a:r>
          </a:p>
        </p:txBody>
      </p:sp>
      <p:sp>
        <p:nvSpPr>
          <p:cNvPr id="3" name="TextBox 2">
            <a:extLst>
              <a:ext uri="{FF2B5EF4-FFF2-40B4-BE49-F238E27FC236}">
                <a16:creationId xmlns:a16="http://schemas.microsoft.com/office/drawing/2014/main" id="{C0EA94AF-DE82-952C-36B6-8E0DB42B8826}"/>
              </a:ext>
            </a:extLst>
          </p:cNvPr>
          <p:cNvSpPr txBox="1"/>
          <p:nvPr/>
        </p:nvSpPr>
        <p:spPr>
          <a:xfrm>
            <a:off x="5637402" y="2973897"/>
            <a:ext cx="914400" cy="914400"/>
          </a:xfrm>
          <a:prstGeom prst="rect">
            <a:avLst/>
          </a:prstGeom>
          <a:noFill/>
        </p:spPr>
        <p:txBody>
          <a:bodyPr wrap="square" rtlCol="0">
            <a:spAutoFit/>
          </a:bodyPr>
          <a:lstStyle/>
          <a:p>
            <a:endParaRPr lang="en-IN" dirty="0"/>
          </a:p>
        </p:txBody>
      </p:sp>
      <p:sp>
        <p:nvSpPr>
          <p:cNvPr id="4" name="TextBox 3">
            <a:extLst>
              <a:ext uri="{FF2B5EF4-FFF2-40B4-BE49-F238E27FC236}">
                <a16:creationId xmlns:a16="http://schemas.microsoft.com/office/drawing/2014/main" id="{AC7B7B28-048A-2BA3-7DAB-761375B91A3C}"/>
              </a:ext>
            </a:extLst>
          </p:cNvPr>
          <p:cNvSpPr txBox="1"/>
          <p:nvPr/>
        </p:nvSpPr>
        <p:spPr>
          <a:xfrm>
            <a:off x="5924934" y="3324347"/>
            <a:ext cx="45720" cy="369332"/>
          </a:xfrm>
          <a:prstGeom prst="rect">
            <a:avLst/>
          </a:prstGeom>
          <a:noFill/>
        </p:spPr>
        <p:txBody>
          <a:bodyPr wrap="square" rtlCol="0">
            <a:spAutoFit/>
          </a:bodyPr>
          <a:lstStyle/>
          <a:p>
            <a:endParaRPr lang="en-IN" dirty="0"/>
          </a:p>
        </p:txBody>
      </p:sp>
      <p:pic>
        <p:nvPicPr>
          <p:cNvPr id="8" name="Picture 7">
            <a:extLst>
              <a:ext uri="{FF2B5EF4-FFF2-40B4-BE49-F238E27FC236}">
                <a16:creationId xmlns:a16="http://schemas.microsoft.com/office/drawing/2014/main" id="{A81FE112-3B33-9DD2-EF2D-F3E1ECF86A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1" y="1513688"/>
            <a:ext cx="9113240" cy="5126198"/>
          </a:xfrm>
          <a:prstGeom prst="rect">
            <a:avLst/>
          </a:prstGeom>
        </p:spPr>
      </p:pic>
    </p:spTree>
    <p:extLst>
      <p:ext uri="{BB962C8B-B14F-4D97-AF65-F5344CB8AC3E}">
        <p14:creationId xmlns:p14="http://schemas.microsoft.com/office/powerpoint/2010/main" val="1382995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AC1CF3-A08B-3DB3-CAE1-FD857B2C8F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568" y="574121"/>
            <a:ext cx="10150679" cy="5709757"/>
          </a:xfrm>
          <a:prstGeom prst="rect">
            <a:avLst/>
          </a:prstGeom>
        </p:spPr>
      </p:pic>
    </p:spTree>
    <p:extLst>
      <p:ext uri="{BB962C8B-B14F-4D97-AF65-F5344CB8AC3E}">
        <p14:creationId xmlns:p14="http://schemas.microsoft.com/office/powerpoint/2010/main" val="3570759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FEC532-9C94-BF21-8791-E5598ECB9E7B}"/>
              </a:ext>
            </a:extLst>
          </p:cNvPr>
          <p:cNvSpPr txBox="1"/>
          <p:nvPr/>
        </p:nvSpPr>
        <p:spPr>
          <a:xfrm>
            <a:off x="777588" y="833644"/>
            <a:ext cx="6096000" cy="584775"/>
          </a:xfrm>
          <a:prstGeom prst="rect">
            <a:avLst/>
          </a:prstGeom>
          <a:noFill/>
        </p:spPr>
        <p:txBody>
          <a:bodyPr wrap="square">
            <a:spAutoFit/>
          </a:bodyPr>
          <a:lstStyle/>
          <a:p>
            <a:r>
              <a:rPr lang="en-IN" sz="3200" b="1" dirty="0"/>
              <a:t> </a:t>
            </a:r>
            <a:r>
              <a:rPr lang="en-IN" sz="3200" b="1" i="0" dirty="0">
                <a:effectLst/>
              </a:rPr>
              <a:t>USE</a:t>
            </a:r>
            <a:r>
              <a:rPr lang="en-IN" sz="3200" b="1" i="0" dirty="0">
                <a:effectLst/>
                <a:latin typeface="-apple-system"/>
              </a:rPr>
              <a:t> CASE DIAGRAM </a:t>
            </a:r>
            <a:r>
              <a:rPr lang="en-IN" sz="3200" b="1" dirty="0"/>
              <a:t>:</a:t>
            </a:r>
          </a:p>
        </p:txBody>
      </p:sp>
      <p:pic>
        <p:nvPicPr>
          <p:cNvPr id="4" name="Picture 3">
            <a:extLst>
              <a:ext uri="{FF2B5EF4-FFF2-40B4-BE49-F238E27FC236}">
                <a16:creationId xmlns:a16="http://schemas.microsoft.com/office/drawing/2014/main" id="{8ED8A87F-C77C-41BA-6673-3AD5070A33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0420" y="1719743"/>
            <a:ext cx="5777791" cy="4655890"/>
          </a:xfrm>
          <a:prstGeom prst="rect">
            <a:avLst/>
          </a:prstGeom>
        </p:spPr>
      </p:pic>
    </p:spTree>
    <p:extLst>
      <p:ext uri="{BB962C8B-B14F-4D97-AF65-F5344CB8AC3E}">
        <p14:creationId xmlns:p14="http://schemas.microsoft.com/office/powerpoint/2010/main" val="3638292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D15751-58EE-C1B4-135A-997787D0416C}"/>
              </a:ext>
            </a:extLst>
          </p:cNvPr>
          <p:cNvSpPr txBox="1"/>
          <p:nvPr/>
        </p:nvSpPr>
        <p:spPr>
          <a:xfrm>
            <a:off x="933275" y="905903"/>
            <a:ext cx="6094602" cy="584775"/>
          </a:xfrm>
          <a:prstGeom prst="rect">
            <a:avLst/>
          </a:prstGeom>
          <a:noFill/>
        </p:spPr>
        <p:txBody>
          <a:bodyPr wrap="square">
            <a:spAutoFit/>
          </a:bodyPr>
          <a:lstStyle/>
          <a:p>
            <a:r>
              <a:rPr lang="en-IN" sz="3200" b="1" i="0" dirty="0">
                <a:effectLst/>
                <a:latin typeface="-apple-system"/>
              </a:rPr>
              <a:t> </a:t>
            </a:r>
            <a:r>
              <a:rPr lang="en-IN" sz="3200" b="1" i="0" cap="all" dirty="0">
                <a:solidFill>
                  <a:srgbClr val="000000"/>
                </a:solidFill>
                <a:effectLst/>
              </a:rPr>
              <a:t>CONCLUSION</a:t>
            </a:r>
            <a:r>
              <a:rPr lang="en-IN" sz="3200" b="1" i="0" cap="all" dirty="0">
                <a:solidFill>
                  <a:srgbClr val="000000"/>
                </a:solidFill>
                <a:effectLst/>
                <a:latin typeface="oswald" panose="020B0604020202020204" pitchFamily="2" charset="0"/>
              </a:rPr>
              <a:t> </a:t>
            </a:r>
            <a:r>
              <a:rPr lang="en-IN" sz="3200" b="1" dirty="0"/>
              <a:t>:</a:t>
            </a:r>
            <a:endParaRPr lang="en-IN" sz="3200" dirty="0"/>
          </a:p>
        </p:txBody>
      </p:sp>
      <p:sp>
        <p:nvSpPr>
          <p:cNvPr id="5" name="TextBox 4">
            <a:extLst>
              <a:ext uri="{FF2B5EF4-FFF2-40B4-BE49-F238E27FC236}">
                <a16:creationId xmlns:a16="http://schemas.microsoft.com/office/drawing/2014/main" id="{27A870E5-5F33-035F-7A44-E045D5DE18B1}"/>
              </a:ext>
            </a:extLst>
          </p:cNvPr>
          <p:cNvSpPr txBox="1"/>
          <p:nvPr/>
        </p:nvSpPr>
        <p:spPr>
          <a:xfrm>
            <a:off x="2457974" y="2506211"/>
            <a:ext cx="6929307" cy="1754326"/>
          </a:xfrm>
          <a:prstGeom prst="rect">
            <a:avLst/>
          </a:prstGeom>
          <a:noFill/>
        </p:spPr>
        <p:txBody>
          <a:bodyPr wrap="square" rtlCol="0">
            <a:spAutoFit/>
          </a:bodyPr>
          <a:lstStyle/>
          <a:p>
            <a:pPr marL="285750" indent="-285750">
              <a:buFont typeface="Arial" panose="020B0604020202020204" pitchFamily="34" charset="0"/>
              <a:buChar char="•"/>
            </a:pPr>
            <a:r>
              <a:rPr lang="en-US" b="0" i="0" dirty="0">
                <a:effectLst/>
                <a:latin typeface="lato" panose="020B0604020202020204" pitchFamily="34" charset="0"/>
              </a:rPr>
              <a:t>Online Sports Turf Playground Booking System this project Sends message reminders to managers and users whenever slots are booked, canceled or rescheduled.</a:t>
            </a:r>
          </a:p>
          <a:p>
            <a:pPr marL="285750" indent="-285750">
              <a:buFont typeface="Arial" panose="020B0604020202020204" pitchFamily="34" charset="0"/>
              <a:buChar char="•"/>
            </a:pPr>
            <a:endParaRPr lang="en-US" b="0" i="0" dirty="0">
              <a:effectLst/>
              <a:latin typeface="lato" panose="020B0604020202020204" pitchFamily="34" charset="0"/>
            </a:endParaRPr>
          </a:p>
          <a:p>
            <a:pPr marL="285750" indent="-285750">
              <a:buFont typeface="Arial" panose="020B0604020202020204" pitchFamily="34" charset="0"/>
              <a:buChar char="•"/>
            </a:pPr>
            <a:r>
              <a:rPr lang="en-US" b="0" i="0" dirty="0">
                <a:effectLst/>
                <a:latin typeface="lato" panose="020B0604020202020204" pitchFamily="34" charset="0"/>
              </a:rPr>
              <a:t>And your users can easily and securely </a:t>
            </a:r>
            <a:r>
              <a:rPr lang="en-US" b="0" i="0" dirty="0">
                <a:effectLst/>
              </a:rPr>
              <a:t>authenticate</a:t>
            </a:r>
            <a:r>
              <a:rPr lang="en-US" b="0" i="0" dirty="0">
                <a:effectLst/>
                <a:latin typeface="lato" panose="020B0604020202020204" pitchFamily="34" charset="0"/>
              </a:rPr>
              <a:t> themselves by linking their existing service by using a password.</a:t>
            </a:r>
            <a:endParaRPr lang="en-IN" dirty="0"/>
          </a:p>
        </p:txBody>
      </p:sp>
    </p:spTree>
    <p:extLst>
      <p:ext uri="{BB962C8B-B14F-4D97-AF65-F5344CB8AC3E}">
        <p14:creationId xmlns:p14="http://schemas.microsoft.com/office/powerpoint/2010/main" val="17286933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1101</TotalTime>
  <Words>901</Words>
  <Application>Microsoft Office PowerPoint</Application>
  <PresentationFormat>Widescreen</PresentationFormat>
  <Paragraphs>72</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-apple-system</vt:lpstr>
      <vt:lpstr>Arial</vt:lpstr>
      <vt:lpstr>Calibri</vt:lpstr>
      <vt:lpstr>Calibri Light</vt:lpstr>
      <vt:lpstr>Consolas</vt:lpstr>
      <vt:lpstr>lato</vt:lpstr>
      <vt:lpstr>oswald</vt:lpstr>
      <vt:lpstr>Symbol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raja m</dc:creator>
  <cp:lastModifiedBy>raja m</cp:lastModifiedBy>
  <cp:revision>1</cp:revision>
  <dcterms:created xsi:type="dcterms:W3CDTF">2023-02-16T07:29:24Z</dcterms:created>
  <dcterms:modified xsi:type="dcterms:W3CDTF">2023-02-17T01:51:11Z</dcterms:modified>
</cp:coreProperties>
</file>